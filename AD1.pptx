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59" r:id="rId3"/>
    <p:sldId id="258" r:id="rId4"/>
    <p:sldId id="260" r:id="rId5"/>
    <p:sldId id="266" r:id="rId6"/>
    <p:sldId id="275" r:id="rId7"/>
    <p:sldId id="276" r:id="rId8"/>
    <p:sldId id="277" r:id="rId9"/>
    <p:sldId id="278" r:id="rId10"/>
    <p:sldId id="261" r:id="rId11"/>
    <p:sldId id="263" r:id="rId12"/>
    <p:sldId id="264" r:id="rId13"/>
    <p:sldId id="262" r:id="rId14"/>
    <p:sldId id="273" r:id="rId15"/>
    <p:sldId id="274" r:id="rId16"/>
    <p:sldId id="272" r:id="rId17"/>
    <p:sldId id="267" r:id="rId18"/>
    <p:sldId id="269" r:id="rId19"/>
    <p:sldId id="270" r:id="rId20"/>
    <p:sldId id="271" r:id="rId21"/>
    <p:sldId id="265" r:id="rId22"/>
    <p:sldId id="268" r:id="rId2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showGuides="1">
      <p:cViewPr varScale="1">
        <p:scale>
          <a:sx n="86" d="100"/>
          <a:sy n="86" d="100"/>
        </p:scale>
        <p:origin x="562" y="58"/>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ravaniduvvuri2006@gmail.com" userId="c5d8a5cae6635726" providerId="LiveId" clId="{F56D7DE9-334F-45CA-BA2A-5199352A810D}"/>
    <pc:docChg chg="custSel addSld modSld">
      <pc:chgData name="sravaniduvvuri2006@gmail.com" userId="c5d8a5cae6635726" providerId="LiveId" clId="{F56D7DE9-334F-45CA-BA2A-5199352A810D}" dt="2025-10-12T23:14:30.773" v="82" actId="14100"/>
      <pc:docMkLst>
        <pc:docMk/>
      </pc:docMkLst>
      <pc:sldChg chg="addSp modSp new mod">
        <pc:chgData name="sravaniduvvuri2006@gmail.com" userId="c5d8a5cae6635726" providerId="LiveId" clId="{F56D7DE9-334F-45CA-BA2A-5199352A810D}" dt="2025-10-12T23:12:58.029" v="38" actId="1076"/>
        <pc:sldMkLst>
          <pc:docMk/>
          <pc:sldMk cId="2547692816" sldId="269"/>
        </pc:sldMkLst>
        <pc:spChg chg="add mod">
          <ac:chgData name="sravaniduvvuri2006@gmail.com" userId="c5d8a5cae6635726" providerId="LiveId" clId="{F56D7DE9-334F-45CA-BA2A-5199352A810D}" dt="2025-10-12T23:11:35.768" v="13" actId="20577"/>
          <ac:spMkLst>
            <pc:docMk/>
            <pc:sldMk cId="2547692816" sldId="269"/>
            <ac:spMk id="2" creationId="{50D6777B-FA45-8508-D7C6-BD35962EDD57}"/>
          </ac:spMkLst>
        </pc:spChg>
        <pc:spChg chg="add mod">
          <ac:chgData name="sravaniduvvuri2006@gmail.com" userId="c5d8a5cae6635726" providerId="LiveId" clId="{F56D7DE9-334F-45CA-BA2A-5199352A810D}" dt="2025-10-12T23:12:29.692" v="34" actId="20577"/>
          <ac:spMkLst>
            <pc:docMk/>
            <pc:sldMk cId="2547692816" sldId="269"/>
            <ac:spMk id="5" creationId="{462C21A5-7A34-82FD-E502-0AE0BF29F4E9}"/>
          </ac:spMkLst>
        </pc:spChg>
        <pc:picChg chg="add mod">
          <ac:chgData name="sravaniduvvuri2006@gmail.com" userId="c5d8a5cae6635726" providerId="LiveId" clId="{F56D7DE9-334F-45CA-BA2A-5199352A810D}" dt="2025-10-12T23:12:17.398" v="21" actId="14100"/>
          <ac:picMkLst>
            <pc:docMk/>
            <pc:sldMk cId="2547692816" sldId="269"/>
            <ac:picMk id="4" creationId="{8502131A-AA86-8FBF-43E1-E7BFF1ED71C8}"/>
          </ac:picMkLst>
        </pc:picChg>
        <pc:picChg chg="add mod">
          <ac:chgData name="sravaniduvvuri2006@gmail.com" userId="c5d8a5cae6635726" providerId="LiveId" clId="{F56D7DE9-334F-45CA-BA2A-5199352A810D}" dt="2025-10-12T23:12:58.029" v="38" actId="1076"/>
          <ac:picMkLst>
            <pc:docMk/>
            <pc:sldMk cId="2547692816" sldId="269"/>
            <ac:picMk id="7" creationId="{A1768779-32ED-13BD-291E-C74B3280409F}"/>
          </ac:picMkLst>
        </pc:picChg>
      </pc:sldChg>
      <pc:sldChg chg="addSp modSp new mod">
        <pc:chgData name="sravaniduvvuri2006@gmail.com" userId="c5d8a5cae6635726" providerId="LiveId" clId="{F56D7DE9-334F-45CA-BA2A-5199352A810D}" dt="2025-10-12T23:14:30.773" v="82" actId="14100"/>
        <pc:sldMkLst>
          <pc:docMk/>
          <pc:sldMk cId="2936093259" sldId="270"/>
        </pc:sldMkLst>
        <pc:spChg chg="add mod">
          <ac:chgData name="sravaniduvvuri2006@gmail.com" userId="c5d8a5cae6635726" providerId="LiveId" clId="{F56D7DE9-334F-45CA-BA2A-5199352A810D}" dt="2025-10-12T23:13:17.790" v="53" actId="20577"/>
          <ac:spMkLst>
            <pc:docMk/>
            <pc:sldMk cId="2936093259" sldId="270"/>
            <ac:spMk id="2" creationId="{1CAFC4EA-FB4C-8D3E-00EC-ADF0FCC571ED}"/>
          </ac:spMkLst>
        </pc:spChg>
        <pc:spChg chg="add mod">
          <ac:chgData name="sravaniduvvuri2006@gmail.com" userId="c5d8a5cae6635726" providerId="LiveId" clId="{F56D7DE9-334F-45CA-BA2A-5199352A810D}" dt="2025-10-12T23:13:58.562" v="75" actId="20577"/>
          <ac:spMkLst>
            <pc:docMk/>
            <pc:sldMk cId="2936093259" sldId="270"/>
            <ac:spMk id="5" creationId="{B8EDB72E-D21C-DA79-BF8E-1037189D9CCA}"/>
          </ac:spMkLst>
        </pc:spChg>
        <pc:picChg chg="add mod">
          <ac:chgData name="sravaniduvvuri2006@gmail.com" userId="c5d8a5cae6635726" providerId="LiveId" clId="{F56D7DE9-334F-45CA-BA2A-5199352A810D}" dt="2025-10-12T23:14:30.773" v="82" actId="14100"/>
          <ac:picMkLst>
            <pc:docMk/>
            <pc:sldMk cId="2936093259" sldId="270"/>
            <ac:picMk id="4" creationId="{A1F71952-B7E7-6FFC-9DF2-D8E2DC4AA0A1}"/>
          </ac:picMkLst>
        </pc:picChg>
        <pc:picChg chg="add mod">
          <ac:chgData name="sravaniduvvuri2006@gmail.com" userId="c5d8a5cae6635726" providerId="LiveId" clId="{F56D7DE9-334F-45CA-BA2A-5199352A810D}" dt="2025-10-12T23:14:25.649" v="81" actId="14100"/>
          <ac:picMkLst>
            <pc:docMk/>
            <pc:sldMk cId="2936093259" sldId="270"/>
            <ac:picMk id="7" creationId="{B50717C7-56F9-83B5-9814-54386E64A429}"/>
          </ac:picMkLst>
        </pc:picChg>
      </pc:sldChg>
    </pc:docChg>
  </pc:docChgLst>
  <pc:docChgLst>
    <pc:chgData name="sravaniduvvuri2006@gmail.com" userId="c5d8a5cae6635726" providerId="LiveId" clId="{43FC9CA6-51DE-49AB-A495-26FB69474002}"/>
    <pc:docChg chg="addSld modSld sldOrd">
      <pc:chgData name="sravaniduvvuri2006@gmail.com" userId="c5d8a5cae6635726" providerId="LiveId" clId="{43FC9CA6-51DE-49AB-A495-26FB69474002}" dt="2025-11-12T20:37:33.663" v="104" actId="1076"/>
      <pc:docMkLst>
        <pc:docMk/>
      </pc:docMkLst>
      <pc:sldChg chg="modSp mod">
        <pc:chgData name="sravaniduvvuri2006@gmail.com" userId="c5d8a5cae6635726" providerId="LiveId" clId="{43FC9CA6-51DE-49AB-A495-26FB69474002}" dt="2025-11-12T20:37:33.663" v="104" actId="1076"/>
        <pc:sldMkLst>
          <pc:docMk/>
          <pc:sldMk cId="2819953592" sldId="260"/>
        </pc:sldMkLst>
        <pc:spChg chg="mod">
          <ac:chgData name="sravaniduvvuri2006@gmail.com" userId="c5d8a5cae6635726" providerId="LiveId" clId="{43FC9CA6-51DE-49AB-A495-26FB69474002}" dt="2025-11-12T20:37:33.663" v="104" actId="1076"/>
          <ac:spMkLst>
            <pc:docMk/>
            <pc:sldMk cId="2819953592" sldId="260"/>
            <ac:spMk id="3" creationId="{82A5A020-C470-8405-1650-1F77BF43214D}"/>
          </ac:spMkLst>
        </pc:spChg>
      </pc:sldChg>
      <pc:sldChg chg="modSp mod">
        <pc:chgData name="sravaniduvvuri2006@gmail.com" userId="c5d8a5cae6635726" providerId="LiveId" clId="{43FC9CA6-51DE-49AB-A495-26FB69474002}" dt="2025-11-12T20:37:23.186" v="101" actId="1076"/>
        <pc:sldMkLst>
          <pc:docMk/>
          <pc:sldMk cId="3384481882" sldId="266"/>
        </pc:sldMkLst>
        <pc:spChg chg="mod">
          <ac:chgData name="sravaniduvvuri2006@gmail.com" userId="c5d8a5cae6635726" providerId="LiveId" clId="{43FC9CA6-51DE-49AB-A495-26FB69474002}" dt="2025-11-12T20:37:23.186" v="101" actId="1076"/>
          <ac:spMkLst>
            <pc:docMk/>
            <pc:sldMk cId="3384481882" sldId="266"/>
            <ac:spMk id="2" creationId="{0300D6D0-8595-F4B1-F9A5-DEF883DC8FDA}"/>
          </ac:spMkLst>
        </pc:spChg>
      </pc:sldChg>
      <pc:sldChg chg="addSp modSp new mod">
        <pc:chgData name="sravaniduvvuri2006@gmail.com" userId="c5d8a5cae6635726" providerId="LiveId" clId="{43FC9CA6-51DE-49AB-A495-26FB69474002}" dt="2025-11-12T20:25:52.646" v="26" actId="1076"/>
        <pc:sldMkLst>
          <pc:docMk/>
          <pc:sldMk cId="327487860" sldId="271"/>
        </pc:sldMkLst>
        <pc:spChg chg="add mod">
          <ac:chgData name="sravaniduvvuri2006@gmail.com" userId="c5d8a5cae6635726" providerId="LiveId" clId="{43FC9CA6-51DE-49AB-A495-26FB69474002}" dt="2025-11-12T20:25:52.646" v="26" actId="1076"/>
          <ac:spMkLst>
            <pc:docMk/>
            <pc:sldMk cId="327487860" sldId="271"/>
            <ac:spMk id="3" creationId="{8618675E-FCE6-9474-8604-3401AD98433D}"/>
          </ac:spMkLst>
        </pc:spChg>
      </pc:sldChg>
      <pc:sldChg chg="addSp modSp new mod ord">
        <pc:chgData name="sravaniduvvuri2006@gmail.com" userId="c5d8a5cae6635726" providerId="LiveId" clId="{43FC9CA6-51DE-49AB-A495-26FB69474002}" dt="2025-11-12T20:28:19.403" v="40" actId="1076"/>
        <pc:sldMkLst>
          <pc:docMk/>
          <pc:sldMk cId="1701871621" sldId="272"/>
        </pc:sldMkLst>
        <pc:spChg chg="add mod">
          <ac:chgData name="sravaniduvvuri2006@gmail.com" userId="c5d8a5cae6635726" providerId="LiveId" clId="{43FC9CA6-51DE-49AB-A495-26FB69474002}" dt="2025-11-12T20:28:19.403" v="40" actId="1076"/>
          <ac:spMkLst>
            <pc:docMk/>
            <pc:sldMk cId="1701871621" sldId="272"/>
            <ac:spMk id="3" creationId="{C4542B09-0F8B-DF16-D0D9-25CA98C5262E}"/>
          </ac:spMkLst>
        </pc:spChg>
      </pc:sldChg>
      <pc:sldChg chg="addSp delSp modSp new mod">
        <pc:chgData name="sravaniduvvuri2006@gmail.com" userId="c5d8a5cae6635726" providerId="LiveId" clId="{43FC9CA6-51DE-49AB-A495-26FB69474002}" dt="2025-11-12T20:31:00.148" v="50" actId="1076"/>
        <pc:sldMkLst>
          <pc:docMk/>
          <pc:sldMk cId="1704481932" sldId="273"/>
        </pc:sldMkLst>
        <pc:spChg chg="add del mod">
          <ac:chgData name="sravaniduvvuri2006@gmail.com" userId="c5d8a5cae6635726" providerId="LiveId" clId="{43FC9CA6-51DE-49AB-A495-26FB69474002}" dt="2025-11-12T20:30:28.565" v="45" actId="478"/>
          <ac:spMkLst>
            <pc:docMk/>
            <pc:sldMk cId="1704481932" sldId="273"/>
            <ac:spMk id="3" creationId="{45D9D7A2-1E11-DCE0-71EB-CC8E26EE8BCE}"/>
          </ac:spMkLst>
        </pc:spChg>
        <pc:spChg chg="add mod">
          <ac:chgData name="sravaniduvvuri2006@gmail.com" userId="c5d8a5cae6635726" providerId="LiveId" clId="{43FC9CA6-51DE-49AB-A495-26FB69474002}" dt="2025-11-12T20:30:48.624" v="48" actId="255"/>
          <ac:spMkLst>
            <pc:docMk/>
            <pc:sldMk cId="1704481932" sldId="273"/>
            <ac:spMk id="5" creationId="{E576FBE2-D6F2-5F83-E523-AFF36D176EF2}"/>
          </ac:spMkLst>
        </pc:spChg>
        <pc:graphicFrameChg chg="add del mod">
          <ac:chgData name="sravaniduvvuri2006@gmail.com" userId="c5d8a5cae6635726" providerId="LiveId" clId="{43FC9CA6-51DE-49AB-A495-26FB69474002}" dt="2025-11-12T20:30:28.565" v="45" actId="478"/>
          <ac:graphicFrameMkLst>
            <pc:docMk/>
            <pc:sldMk cId="1704481932" sldId="273"/>
            <ac:graphicFrameMk id="2" creationId="{C8EF929B-ADD5-53D1-1235-672050623C40}"/>
          </ac:graphicFrameMkLst>
        </pc:graphicFrameChg>
        <pc:graphicFrameChg chg="add mod">
          <ac:chgData name="sravaniduvvuri2006@gmail.com" userId="c5d8a5cae6635726" providerId="LiveId" clId="{43FC9CA6-51DE-49AB-A495-26FB69474002}" dt="2025-11-12T20:31:00.148" v="50" actId="1076"/>
          <ac:graphicFrameMkLst>
            <pc:docMk/>
            <pc:sldMk cId="1704481932" sldId="273"/>
            <ac:graphicFrameMk id="6" creationId="{4DB90DE4-3C78-7CCC-9869-725BD834E255}"/>
          </ac:graphicFrameMkLst>
        </pc:graphicFrameChg>
      </pc:sldChg>
      <pc:sldChg chg="addSp modSp new mod">
        <pc:chgData name="sravaniduvvuri2006@gmail.com" userId="c5d8a5cae6635726" providerId="LiveId" clId="{43FC9CA6-51DE-49AB-A495-26FB69474002}" dt="2025-11-12T20:31:39.808" v="56" actId="1076"/>
        <pc:sldMkLst>
          <pc:docMk/>
          <pc:sldMk cId="1429105530" sldId="274"/>
        </pc:sldMkLst>
        <pc:spChg chg="add mod">
          <ac:chgData name="sravaniduvvuri2006@gmail.com" userId="c5d8a5cae6635726" providerId="LiveId" clId="{43FC9CA6-51DE-49AB-A495-26FB69474002}" dt="2025-11-12T20:31:22.302" v="54" actId="1076"/>
          <ac:spMkLst>
            <pc:docMk/>
            <pc:sldMk cId="1429105530" sldId="274"/>
            <ac:spMk id="3" creationId="{CE8B7EC5-C449-C453-CD6E-FC798B5D0997}"/>
          </ac:spMkLst>
        </pc:spChg>
        <pc:graphicFrameChg chg="add mod">
          <ac:chgData name="sravaniduvvuri2006@gmail.com" userId="c5d8a5cae6635726" providerId="LiveId" clId="{43FC9CA6-51DE-49AB-A495-26FB69474002}" dt="2025-11-12T20:31:39.808" v="56" actId="1076"/>
          <ac:graphicFrameMkLst>
            <pc:docMk/>
            <pc:sldMk cId="1429105530" sldId="274"/>
            <ac:graphicFrameMk id="4" creationId="{CF0DF861-4921-E714-D3C9-BEB93A0D5D2D}"/>
          </ac:graphicFrameMkLst>
        </pc:graphicFrameChg>
      </pc:sldChg>
      <pc:sldChg chg="addSp modSp new mod">
        <pc:chgData name="sravaniduvvuri2006@gmail.com" userId="c5d8a5cae6635726" providerId="LiveId" clId="{43FC9CA6-51DE-49AB-A495-26FB69474002}" dt="2025-11-12T20:37:11.839" v="98" actId="20577"/>
        <pc:sldMkLst>
          <pc:docMk/>
          <pc:sldMk cId="2497454528" sldId="275"/>
        </pc:sldMkLst>
        <pc:spChg chg="add mod">
          <ac:chgData name="sravaniduvvuri2006@gmail.com" userId="c5d8a5cae6635726" providerId="LiveId" clId="{43FC9CA6-51DE-49AB-A495-26FB69474002}" dt="2025-11-12T20:34:19.595" v="60" actId="1076"/>
          <ac:spMkLst>
            <pc:docMk/>
            <pc:sldMk cId="2497454528" sldId="275"/>
            <ac:spMk id="3" creationId="{4D676BB2-CF62-4E7E-41EC-6475C9EA6C7B}"/>
          </ac:spMkLst>
        </pc:spChg>
        <pc:spChg chg="add mod">
          <ac:chgData name="sravaniduvvuri2006@gmail.com" userId="c5d8a5cae6635726" providerId="LiveId" clId="{43FC9CA6-51DE-49AB-A495-26FB69474002}" dt="2025-11-12T20:37:11.839" v="98" actId="20577"/>
          <ac:spMkLst>
            <pc:docMk/>
            <pc:sldMk cId="2497454528" sldId="275"/>
            <ac:spMk id="5" creationId="{B4DB6B0E-255D-BC0F-CD7D-61873A6C1D03}"/>
          </ac:spMkLst>
        </pc:spChg>
      </pc:sldChg>
      <pc:sldChg chg="addSp modSp new mod">
        <pc:chgData name="sravaniduvvuri2006@gmail.com" userId="c5d8a5cae6635726" providerId="LiveId" clId="{43FC9CA6-51DE-49AB-A495-26FB69474002}" dt="2025-11-12T20:36:59.892" v="96" actId="20577"/>
        <pc:sldMkLst>
          <pc:docMk/>
          <pc:sldMk cId="3670780948" sldId="276"/>
        </pc:sldMkLst>
        <pc:spChg chg="add mod">
          <ac:chgData name="sravaniduvvuri2006@gmail.com" userId="c5d8a5cae6635726" providerId="LiveId" clId="{43FC9CA6-51DE-49AB-A495-26FB69474002}" dt="2025-11-12T20:34:46.749" v="64" actId="1076"/>
          <ac:spMkLst>
            <pc:docMk/>
            <pc:sldMk cId="3670780948" sldId="276"/>
            <ac:spMk id="3" creationId="{0C6753AE-3FFE-A0B5-803D-D2FEF8533A59}"/>
          </ac:spMkLst>
        </pc:spChg>
        <pc:spChg chg="add mod">
          <ac:chgData name="sravaniduvvuri2006@gmail.com" userId="c5d8a5cae6635726" providerId="LiveId" clId="{43FC9CA6-51DE-49AB-A495-26FB69474002}" dt="2025-11-12T20:36:59.892" v="96" actId="20577"/>
          <ac:spMkLst>
            <pc:docMk/>
            <pc:sldMk cId="3670780948" sldId="276"/>
            <ac:spMk id="5" creationId="{12FD6B27-BC95-C794-1E9A-36ED2B3AED6F}"/>
          </ac:spMkLst>
        </pc:spChg>
      </pc:sldChg>
      <pc:sldChg chg="addSp modSp new mod">
        <pc:chgData name="sravaniduvvuri2006@gmail.com" userId="c5d8a5cae6635726" providerId="LiveId" clId="{43FC9CA6-51DE-49AB-A495-26FB69474002}" dt="2025-11-12T20:36:52.227" v="94" actId="20577"/>
        <pc:sldMkLst>
          <pc:docMk/>
          <pc:sldMk cId="2006004891" sldId="277"/>
        </pc:sldMkLst>
        <pc:spChg chg="add mod">
          <ac:chgData name="sravaniduvvuri2006@gmail.com" userId="c5d8a5cae6635726" providerId="LiveId" clId="{43FC9CA6-51DE-49AB-A495-26FB69474002}" dt="2025-11-12T20:35:11.968" v="68" actId="1076"/>
          <ac:spMkLst>
            <pc:docMk/>
            <pc:sldMk cId="2006004891" sldId="277"/>
            <ac:spMk id="3" creationId="{C8FE7F43-CE78-0CDD-3DC0-CCDD637AB726}"/>
          </ac:spMkLst>
        </pc:spChg>
        <pc:spChg chg="add mod">
          <ac:chgData name="sravaniduvvuri2006@gmail.com" userId="c5d8a5cae6635726" providerId="LiveId" clId="{43FC9CA6-51DE-49AB-A495-26FB69474002}" dt="2025-11-12T20:36:52.227" v="94" actId="20577"/>
          <ac:spMkLst>
            <pc:docMk/>
            <pc:sldMk cId="2006004891" sldId="277"/>
            <ac:spMk id="5" creationId="{381145C7-17D5-A5EC-CB9A-452987A889FF}"/>
          </ac:spMkLst>
        </pc:spChg>
      </pc:sldChg>
      <pc:sldChg chg="addSp modSp new mod">
        <pc:chgData name="sravaniduvvuri2006@gmail.com" userId="c5d8a5cae6635726" providerId="LiveId" clId="{43FC9CA6-51DE-49AB-A495-26FB69474002}" dt="2025-11-12T20:36:46.179" v="91" actId="20577"/>
        <pc:sldMkLst>
          <pc:docMk/>
          <pc:sldMk cId="3004636108" sldId="278"/>
        </pc:sldMkLst>
        <pc:spChg chg="add mod">
          <ac:chgData name="sravaniduvvuri2006@gmail.com" userId="c5d8a5cae6635726" providerId="LiveId" clId="{43FC9CA6-51DE-49AB-A495-26FB69474002}" dt="2025-11-12T20:35:29.802" v="72" actId="1076"/>
          <ac:spMkLst>
            <pc:docMk/>
            <pc:sldMk cId="3004636108" sldId="278"/>
            <ac:spMk id="3" creationId="{9E10CE09-0D8B-F281-053A-B43480591CF2}"/>
          </ac:spMkLst>
        </pc:spChg>
        <pc:spChg chg="add mod">
          <ac:chgData name="sravaniduvvuri2006@gmail.com" userId="c5d8a5cae6635726" providerId="LiveId" clId="{43FC9CA6-51DE-49AB-A495-26FB69474002}" dt="2025-11-12T20:36:46.179" v="91" actId="20577"/>
          <ac:spMkLst>
            <pc:docMk/>
            <pc:sldMk cId="3004636108" sldId="278"/>
            <ac:spMk id="5" creationId="{32842838-571B-DC4C-08D6-F30B710E6CF1}"/>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DF531B98-7DAA-4F67-B12F-4F673C8BF44F}" type="datetimeFigureOut">
              <a:rPr lang="en-US" smtClean="0"/>
              <a:t>11/13/2025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0CC68A8-5216-4190-A4A6-D33F30E85D5F}"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DF531B98-7DAA-4F67-B12F-4F673C8BF44F}" type="datetimeFigureOut">
              <a:rPr lang="en-US" smtClean="0"/>
              <a:t>11/13/2025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0CC68A8-5216-4190-A4A6-D33F30E85D5F}"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F531B98-7DAA-4F67-B12F-4F673C8BF44F}" type="datetimeFigureOut">
              <a:rPr lang="en-US" smtClean="0"/>
              <a:t>11/13/2025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0CC68A8-5216-4190-A4A6-D33F30E85D5F}"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DF531B98-7DAA-4F67-B12F-4F673C8BF44F}" type="datetimeFigureOut">
              <a:rPr lang="en-US" smtClean="0"/>
              <a:t>11/13/2025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0CC68A8-5216-4190-A4A6-D33F30E85D5F}"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DF531B98-7DAA-4F67-B12F-4F673C8BF44F}" type="datetimeFigureOut">
              <a:rPr lang="en-US" smtClean="0"/>
              <a:t>11/13/2025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10CC68A8-5216-4190-A4A6-D33F30E85D5F}"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DF531B98-7DAA-4F67-B12F-4F673C8BF44F}" type="datetimeFigureOut">
              <a:rPr lang="en-US" smtClean="0"/>
              <a:t>11/13/2025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10CC68A8-5216-4190-A4A6-D33F30E85D5F}"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F531B98-7DAA-4F67-B12F-4F673C8BF44F}" type="datetimeFigureOut">
              <a:rPr lang="en-US" smtClean="0"/>
              <a:t>11/13/2025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10CC68A8-5216-4190-A4A6-D33F30E85D5F}"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DF531B98-7DAA-4F67-B12F-4F673C8BF44F}" type="datetimeFigureOut">
              <a:rPr lang="en-US" smtClean="0"/>
              <a:t>11/13/2025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0CC68A8-5216-4190-A4A6-D33F30E85D5F}"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DF531B98-7DAA-4F67-B12F-4F673C8BF44F}" type="datetimeFigureOut">
              <a:rPr lang="en-US" smtClean="0"/>
              <a:t>11/13/2025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0CC68A8-5216-4190-A4A6-D33F30E85D5F}"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DF531B98-7DAA-4F67-B12F-4F673C8BF44F}" type="datetimeFigureOut">
              <a:rPr lang="en-US" smtClean="0"/>
              <a:t>11/13/2025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0CC68A8-5216-4190-A4A6-D33F30E85D5F}"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DF531B98-7DAA-4F67-B12F-4F673C8BF44F}" type="datetimeFigureOut">
              <a:rPr lang="en-US" smtClean="0"/>
              <a:t>11/13/2025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0CC68A8-5216-4190-A4A6-D33F30E85D5F}"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l="2000" t="-2000" b="84000"/>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F531B98-7DAA-4F67-B12F-4F673C8BF44F}" type="datetimeFigureOut">
              <a:rPr lang="en-US" smtClean="0"/>
              <a:t>11/13/2025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0CC68A8-5216-4190-A4A6-D33F30E85D5F}"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image" Target="../media/image6.JP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image" Target="../media/image8.JP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2"/>
          <p:cNvSpPr txBox="1"/>
          <p:nvPr/>
        </p:nvSpPr>
        <p:spPr>
          <a:xfrm>
            <a:off x="228599" y="571500"/>
            <a:ext cx="11707761" cy="6019800"/>
          </a:xfrm>
          <a:prstGeom prst="rect">
            <a:avLst/>
          </a:prstGeom>
          <a:noFill/>
        </p:spPr>
        <p:txBody>
          <a:bodyPr>
            <a:normAutofit fontScale="85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buFont typeface="Arial" panose="020B0604020202020204" pitchFamily="34" charset="0"/>
              <a:buNone/>
            </a:pPr>
            <a:endParaRPr lang="en-US" sz="1200" b="1" dirty="0">
              <a:latin typeface="Times New Roman" panose="02020603050405020304" pitchFamily="18" charset="0"/>
              <a:cs typeface="Times New Roman" panose="02020603050405020304" pitchFamily="18" charset="0"/>
            </a:endParaRPr>
          </a:p>
          <a:p>
            <a:pPr algn="ctr">
              <a:buFont typeface="Arial" panose="020B0604020202020204" pitchFamily="34" charset="0"/>
              <a:buNone/>
            </a:pPr>
            <a:endParaRPr lang="en-US" sz="1600" b="1" dirty="0">
              <a:latin typeface="Times New Roman" panose="02020603050405020304" pitchFamily="18" charset="0"/>
              <a:cs typeface="Times New Roman" panose="02020603050405020304" pitchFamily="18" charset="0"/>
            </a:endParaRPr>
          </a:p>
          <a:p>
            <a:pPr algn="ctr">
              <a:buFont typeface="Arial" panose="020B0604020202020204" pitchFamily="34" charset="0"/>
              <a:buNone/>
            </a:pPr>
            <a:endParaRPr lang="en-US" sz="1600" b="1" dirty="0">
              <a:latin typeface="Times New Roman" panose="02020603050405020304" pitchFamily="18" charset="0"/>
              <a:cs typeface="Times New Roman" panose="02020603050405020304" pitchFamily="18" charset="0"/>
            </a:endParaRPr>
          </a:p>
          <a:p>
            <a:pPr algn="ctr">
              <a:buFont typeface="Arial" panose="020B0604020202020204" pitchFamily="34" charset="0"/>
              <a:buNone/>
            </a:pPr>
            <a:r>
              <a:rPr lang="en-US" sz="1700" b="1" dirty="0">
                <a:solidFill>
                  <a:srgbClr val="002060"/>
                </a:solidFill>
                <a:latin typeface="Bookman Old Style" panose="02050604050505020204" pitchFamily="18" charset="0"/>
                <a:cs typeface="Times New Roman" panose="02020603050405020304" pitchFamily="18" charset="0"/>
              </a:rPr>
              <a:t>BACHELOR OF TECHNOLOGY </a:t>
            </a:r>
          </a:p>
          <a:p>
            <a:pPr algn="ctr">
              <a:buFont typeface="Arial" panose="020B0604020202020204" pitchFamily="34" charset="0"/>
              <a:buNone/>
            </a:pPr>
            <a:r>
              <a:rPr lang="en-US" sz="1700" b="1" dirty="0">
                <a:solidFill>
                  <a:srgbClr val="002060"/>
                </a:solidFill>
                <a:latin typeface="Bookman Old Style" panose="02050604050505020204" pitchFamily="18" charset="0"/>
                <a:cs typeface="Times New Roman" panose="02020603050405020304" pitchFamily="18" charset="0"/>
              </a:rPr>
              <a:t>IN </a:t>
            </a:r>
          </a:p>
          <a:p>
            <a:pPr algn="ctr">
              <a:buFont typeface="Arial" panose="020B0604020202020204" pitchFamily="34" charset="0"/>
              <a:buNone/>
            </a:pPr>
            <a:r>
              <a:rPr lang="en-US" sz="1700" b="1" dirty="0">
                <a:solidFill>
                  <a:srgbClr val="002060"/>
                </a:solidFill>
                <a:latin typeface="Bookman Old Style" panose="02050604050505020204" pitchFamily="18" charset="0"/>
                <a:cs typeface="Times New Roman" panose="02020603050405020304" pitchFamily="18" charset="0"/>
              </a:rPr>
              <a:t>Artificial Intelligence and Machine Learning</a:t>
            </a:r>
          </a:p>
          <a:p>
            <a:pPr algn="ctr">
              <a:buFont typeface="Arial" panose="020B0604020202020204" pitchFamily="34" charset="0"/>
              <a:buNone/>
            </a:pPr>
            <a:endParaRPr lang="en-US" sz="1700" b="1" dirty="0">
              <a:solidFill>
                <a:srgbClr val="002060"/>
              </a:solidFill>
              <a:latin typeface="Bookman Old Style" panose="02050604050505020204" pitchFamily="18" charset="0"/>
              <a:cs typeface="Times New Roman" panose="02020603050405020304" pitchFamily="18" charset="0"/>
            </a:endParaRPr>
          </a:p>
          <a:p>
            <a:pPr algn="ctr">
              <a:buFont typeface="Arial" panose="020B0604020202020204" pitchFamily="34" charset="0"/>
              <a:buNone/>
            </a:pPr>
            <a:r>
              <a:rPr lang="en-IN" sz="4600" b="1" dirty="0">
                <a:latin typeface="Times New Roman"/>
                <a:cs typeface="Times New Roman"/>
              </a:rPr>
              <a:t> Project</a:t>
            </a:r>
            <a:r>
              <a:rPr lang="en-IN" sz="4600" b="1" spc="-100" dirty="0">
                <a:latin typeface="Times New Roman"/>
                <a:cs typeface="Times New Roman"/>
              </a:rPr>
              <a:t> </a:t>
            </a:r>
            <a:r>
              <a:rPr lang="en-IN" sz="4600" b="1" dirty="0">
                <a:latin typeface="Times New Roman"/>
                <a:cs typeface="Times New Roman"/>
              </a:rPr>
              <a:t>Title</a:t>
            </a:r>
            <a:r>
              <a:rPr lang="en-IN" sz="4600" b="1" spc="-45" dirty="0">
                <a:latin typeface="Times New Roman"/>
                <a:cs typeface="Times New Roman"/>
              </a:rPr>
              <a:t> </a:t>
            </a:r>
            <a:r>
              <a:rPr lang="en-IN" sz="4600" b="1" spc="-50" dirty="0">
                <a:latin typeface="Times New Roman"/>
                <a:cs typeface="Times New Roman"/>
              </a:rPr>
              <a:t>:    </a:t>
            </a:r>
            <a:r>
              <a:rPr lang="en-IN" sz="4600" b="1" dirty="0"/>
              <a:t>Urban Harvesting</a:t>
            </a:r>
            <a:endParaRPr lang="en-IN" sz="4600" b="1" dirty="0">
              <a:latin typeface="Times New Roman"/>
              <a:cs typeface="Times New Roman"/>
            </a:endParaRPr>
          </a:p>
          <a:p>
            <a:pPr>
              <a:buNone/>
            </a:pPr>
            <a:endParaRPr lang="en-US" sz="1600" dirty="0">
              <a:solidFill>
                <a:srgbClr val="7030A0"/>
              </a:solidFill>
              <a:latin typeface="Times New Roman" panose="02020603050405020304" pitchFamily="18" charset="0"/>
              <a:cs typeface="Times New Roman" panose="02020603050405020304" pitchFamily="18" charset="0"/>
            </a:endParaRPr>
          </a:p>
          <a:p>
            <a:pPr algn="ctr">
              <a:buFont typeface="Arial" panose="020B0604020202020204" pitchFamily="34" charset="0"/>
              <a:buNone/>
            </a:pPr>
            <a:r>
              <a:rPr lang="en-US" sz="1600" dirty="0">
                <a:solidFill>
                  <a:srgbClr val="000000"/>
                </a:solidFill>
                <a:latin typeface="Bookman Old Style" panose="02050604050505020204" pitchFamily="18" charset="0"/>
                <a:cs typeface="Times New Roman" panose="02020603050405020304" pitchFamily="18" charset="0"/>
              </a:rPr>
              <a:t>                                                                                      </a:t>
            </a:r>
            <a:r>
              <a:rPr lang="en-US" dirty="0">
                <a:solidFill>
                  <a:srgbClr val="000000"/>
                </a:solidFill>
                <a:latin typeface="Bookman Old Style" panose="02050604050505020204" pitchFamily="18" charset="0"/>
                <a:cs typeface="Times New Roman" panose="02020603050405020304" pitchFamily="18" charset="0"/>
              </a:rPr>
              <a:t>Batch Number:10</a:t>
            </a:r>
          </a:p>
          <a:p>
            <a:pPr algn="ctr">
              <a:buFont typeface="Arial" panose="020B0604020202020204" pitchFamily="34" charset="0"/>
              <a:buNone/>
            </a:pPr>
            <a:endParaRPr lang="en-US" sz="1600" dirty="0">
              <a:solidFill>
                <a:srgbClr val="000000"/>
              </a:solidFill>
              <a:latin typeface="Times New Roman" panose="02020603050405020304" pitchFamily="18" charset="0"/>
              <a:cs typeface="Times New Roman" panose="02020603050405020304" pitchFamily="18" charset="0"/>
            </a:endParaRPr>
          </a:p>
          <a:p>
            <a:pPr algn="ctr">
              <a:buFont typeface="Arial" panose="020B0604020202020204" pitchFamily="34" charset="0"/>
              <a:buNone/>
            </a:pPr>
            <a:endParaRPr lang="en-US" sz="1600" dirty="0">
              <a:solidFill>
                <a:srgbClr val="000000"/>
              </a:solidFill>
              <a:latin typeface="Times New Roman" panose="02020603050405020304" pitchFamily="18" charset="0"/>
              <a:cs typeface="Times New Roman" panose="02020603050405020304" pitchFamily="18" charset="0"/>
            </a:endParaRPr>
          </a:p>
          <a:p>
            <a:pPr algn="just">
              <a:buNone/>
            </a:pPr>
            <a:r>
              <a:rPr lang="en-US" sz="1700" dirty="0">
                <a:latin typeface="Bookman Old Style" panose="02050604050505020204" pitchFamily="18" charset="0"/>
                <a:cs typeface="Times New Roman" panose="02020603050405020304" pitchFamily="18" charset="0"/>
              </a:rPr>
              <a:t>			</a:t>
            </a:r>
            <a:r>
              <a:rPr lang="en-US" sz="3600" dirty="0">
                <a:latin typeface="Bookman Old Style" panose="02050604050505020204" pitchFamily="18" charset="0"/>
                <a:cs typeface="Times New Roman" panose="02020603050405020304" pitchFamily="18" charset="0"/>
              </a:rPr>
              <a:t>		 		</a:t>
            </a:r>
            <a:r>
              <a:rPr lang="en-US" sz="1700" dirty="0">
                <a:latin typeface="Bookman Old Style" panose="02050604050505020204" pitchFamily="18" charset="0"/>
                <a:cs typeface="Times New Roman" panose="02020603050405020304" pitchFamily="18" charset="0"/>
              </a:rPr>
              <a:t>		    </a:t>
            </a:r>
            <a:r>
              <a:rPr lang="en-US" dirty="0">
                <a:latin typeface="Bookman Old Style" panose="02050604050505020204" pitchFamily="18" charset="0"/>
                <a:cs typeface="Times New Roman" panose="02020603050405020304" pitchFamily="18" charset="0"/>
              </a:rPr>
              <a:t>Project Guide : M Ashok</a:t>
            </a:r>
            <a:endParaRPr lang="en-US" dirty="0">
              <a:latin typeface="Times New Roman" panose="02020603050405020304" pitchFamily="18" charset="0"/>
              <a:cs typeface="Times New Roman" panose="02020603050405020304" pitchFamily="18" charset="0"/>
            </a:endParaRPr>
          </a:p>
          <a:p>
            <a:pPr>
              <a:buNone/>
            </a:pPr>
            <a:r>
              <a:rPr lang="en-US" sz="1600" dirty="0">
                <a:solidFill>
                  <a:srgbClr val="7030A0"/>
                </a:solidFill>
                <a:latin typeface="Times New Roman" panose="02020603050405020304" pitchFamily="18" charset="0"/>
                <a:cs typeface="Times New Roman" panose="02020603050405020304" pitchFamily="18" charset="0"/>
              </a:rPr>
              <a:t>ok</a:t>
            </a:r>
          </a:p>
          <a:p>
            <a:pPr algn="ctr">
              <a:buFont typeface="Arial" panose="020B0604020202020204" pitchFamily="34" charset="0"/>
              <a:buNone/>
            </a:pPr>
            <a:endParaRPr lang="en-US" sz="1600" dirty="0">
              <a:solidFill>
                <a:srgbClr val="7030A0"/>
              </a:solidFill>
              <a:latin typeface="Times New Roman" panose="02020603050405020304" pitchFamily="18" charset="0"/>
              <a:cs typeface="Times New Roman" panose="02020603050405020304" pitchFamily="18" charset="0"/>
            </a:endParaRPr>
          </a:p>
          <a:p>
            <a:pPr algn="ctr">
              <a:buFont typeface="Arial" panose="020B0604020202020204" pitchFamily="34" charset="0"/>
              <a:buNone/>
            </a:pPr>
            <a:r>
              <a:rPr lang="en-US" sz="2200" b="1" dirty="0">
                <a:solidFill>
                  <a:srgbClr val="7030A0"/>
                </a:solidFill>
                <a:latin typeface="Bookman Old Style" panose="02050604050505020204" pitchFamily="18" charset="0"/>
                <a:cs typeface="Times New Roman" panose="02020603050405020304" pitchFamily="18" charset="0"/>
              </a:rPr>
              <a:t>  </a:t>
            </a:r>
          </a:p>
          <a:p>
            <a:pPr algn="ctr">
              <a:buFont typeface="Arial" panose="020B0604020202020204" pitchFamily="34" charset="0"/>
              <a:buNone/>
            </a:pPr>
            <a:endParaRPr lang="en-US" sz="2200" b="1" dirty="0">
              <a:solidFill>
                <a:srgbClr val="7030A0"/>
              </a:solidFill>
              <a:latin typeface="Bookman Old Style" panose="02050604050505020204" pitchFamily="18" charset="0"/>
              <a:cs typeface="Times New Roman" panose="02020603050405020304" pitchFamily="18" charset="0"/>
            </a:endParaRPr>
          </a:p>
          <a:p>
            <a:pPr algn="ctr">
              <a:buFont typeface="Arial" panose="020B0604020202020204" pitchFamily="34" charset="0"/>
              <a:buNone/>
            </a:pPr>
            <a:r>
              <a:rPr lang="en-US" sz="2200" b="1" dirty="0">
                <a:solidFill>
                  <a:srgbClr val="7030A0"/>
                </a:solidFill>
                <a:latin typeface="Bookman Old Style" panose="02050604050505020204" pitchFamily="18" charset="0"/>
                <a:cs typeface="Times New Roman" panose="02020603050405020304" pitchFamily="18" charset="0"/>
              </a:rPr>
              <a:t>Department of AIML, School of Engineering</a:t>
            </a:r>
          </a:p>
          <a:p>
            <a:pPr algn="ctr">
              <a:buFont typeface="Arial" panose="020B0604020202020204" pitchFamily="34" charset="0"/>
              <a:buNone/>
            </a:pPr>
            <a:r>
              <a:rPr lang="en-US" sz="1700" b="1" dirty="0" err="1">
                <a:solidFill>
                  <a:srgbClr val="7030A0"/>
                </a:solidFill>
                <a:latin typeface="Bookman Old Style" panose="02050604050505020204" pitchFamily="18" charset="0"/>
                <a:cs typeface="Times New Roman" panose="02020603050405020304" pitchFamily="18" charset="0"/>
              </a:rPr>
              <a:t>Malla</a:t>
            </a:r>
            <a:r>
              <a:rPr lang="en-US" sz="1700" b="1" dirty="0">
                <a:solidFill>
                  <a:srgbClr val="7030A0"/>
                </a:solidFill>
                <a:latin typeface="Bookman Old Style" panose="02050604050505020204" pitchFamily="18" charset="0"/>
                <a:cs typeface="Times New Roman" panose="02020603050405020304" pitchFamily="18" charset="0"/>
              </a:rPr>
              <a:t> Reddy University</a:t>
            </a:r>
            <a:endParaRPr lang="en-US" sz="1400" dirty="0">
              <a:latin typeface="Times New Roman" panose="02020603050405020304" pitchFamily="18" charset="0"/>
              <a:cs typeface="Times New Roman" panose="02020603050405020304" pitchFamily="18" charset="0"/>
            </a:endParaRPr>
          </a:p>
          <a:p>
            <a:pPr algn="ctr">
              <a:buFont typeface="Arial" panose="020B0604020202020204" pitchFamily="34" charset="0"/>
              <a:buNone/>
            </a:pPr>
            <a:endParaRPr lang="en-US" sz="1900" dirty="0">
              <a:latin typeface="Times New Roman" panose="02020603050405020304" pitchFamily="18" charset="0"/>
              <a:cs typeface="Times New Roman" panose="02020603050405020304" pitchFamily="18" charset="0"/>
            </a:endParaRPr>
          </a:p>
          <a:p>
            <a:pPr algn="ctr">
              <a:buFont typeface="Arial" panose="020B0604020202020204" pitchFamily="34" charset="0"/>
              <a:buNone/>
            </a:pPr>
            <a:endParaRPr lang="en-US" sz="1900" dirty="0">
              <a:latin typeface="Times New Roman" panose="02020603050405020304" pitchFamily="18" charset="0"/>
              <a:cs typeface="Times New Roman" panose="02020603050405020304" pitchFamily="18" charset="0"/>
            </a:endParaRPr>
          </a:p>
          <a:p>
            <a:endParaRPr lang="en-US" dirty="0"/>
          </a:p>
        </p:txBody>
      </p:sp>
      <p:pic>
        <p:nvPicPr>
          <p:cNvPr id="1026" name="Picture 2" descr="No photo description availabl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272854" y="4448433"/>
            <a:ext cx="1619250" cy="1183834"/>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B94E227C-979B-6CE3-B9C8-4A0E34A50D66}"/>
              </a:ext>
            </a:extLst>
          </p:cNvPr>
          <p:cNvSpPr txBox="1"/>
          <p:nvPr/>
        </p:nvSpPr>
        <p:spPr>
          <a:xfrm>
            <a:off x="824946" y="3125137"/>
            <a:ext cx="2308194" cy="461665"/>
          </a:xfrm>
          <a:prstGeom prst="rect">
            <a:avLst/>
          </a:prstGeom>
          <a:noFill/>
        </p:spPr>
        <p:txBody>
          <a:bodyPr wrap="square" rtlCol="0">
            <a:spAutoFit/>
          </a:bodyPr>
          <a:lstStyle/>
          <a:p>
            <a:pPr marR="40005" algn="l">
              <a:spcBef>
                <a:spcPts val="440"/>
              </a:spcBef>
            </a:pPr>
            <a:r>
              <a:rPr lang="en-US" sz="2400" dirty="0">
                <a:latin typeface="Times New Roman"/>
                <a:cs typeface="Times New Roman"/>
              </a:rPr>
              <a:t>Section</a:t>
            </a:r>
            <a:r>
              <a:rPr lang="en-US" sz="2400" spc="-45" dirty="0">
                <a:latin typeface="Times New Roman"/>
                <a:cs typeface="Times New Roman"/>
              </a:rPr>
              <a:t> </a:t>
            </a:r>
            <a:r>
              <a:rPr lang="en-US" sz="2400" spc="-50" dirty="0">
                <a:latin typeface="Times New Roman"/>
                <a:cs typeface="Times New Roman"/>
              </a:rPr>
              <a:t>: Beta</a:t>
            </a:r>
            <a:endParaRPr lang="en-US" sz="2400" dirty="0">
              <a:latin typeface="Times New Roman"/>
              <a:cs typeface="Times New Roman"/>
            </a:endParaRPr>
          </a:p>
        </p:txBody>
      </p:sp>
      <p:sp>
        <p:nvSpPr>
          <p:cNvPr id="3" name="TextBox 2">
            <a:extLst>
              <a:ext uri="{FF2B5EF4-FFF2-40B4-BE49-F238E27FC236}">
                <a16:creationId xmlns:a16="http://schemas.microsoft.com/office/drawing/2014/main" id="{522D3F2C-51E2-722C-DBA6-624C8E75E803}"/>
              </a:ext>
            </a:extLst>
          </p:cNvPr>
          <p:cNvSpPr txBox="1"/>
          <p:nvPr/>
        </p:nvSpPr>
        <p:spPr>
          <a:xfrm>
            <a:off x="734820" y="3760482"/>
            <a:ext cx="4031813" cy="2195473"/>
          </a:xfrm>
          <a:prstGeom prst="rect">
            <a:avLst/>
          </a:prstGeom>
          <a:noFill/>
        </p:spPr>
        <p:txBody>
          <a:bodyPr wrap="square" rtlCol="0">
            <a:spAutoFit/>
          </a:bodyPr>
          <a:lstStyle/>
          <a:p>
            <a:pPr marR="5080" algn="l">
              <a:lnSpc>
                <a:spcPct val="100000"/>
              </a:lnSpc>
              <a:spcBef>
                <a:spcPts val="375"/>
              </a:spcBef>
            </a:pPr>
            <a:r>
              <a:rPr lang="en-IN" sz="2000" dirty="0">
                <a:latin typeface="Times New Roman"/>
                <a:cs typeface="Times New Roman"/>
              </a:rPr>
              <a:t>Roll</a:t>
            </a:r>
            <a:r>
              <a:rPr lang="en-IN" sz="2000" spc="-30" dirty="0">
                <a:latin typeface="Times New Roman"/>
                <a:cs typeface="Times New Roman"/>
              </a:rPr>
              <a:t> </a:t>
            </a:r>
            <a:r>
              <a:rPr lang="en-IN" sz="2000" dirty="0">
                <a:latin typeface="Times New Roman"/>
                <a:cs typeface="Times New Roman"/>
              </a:rPr>
              <a:t>Numbers</a:t>
            </a:r>
            <a:r>
              <a:rPr lang="en-IN" sz="2000" spc="-30" dirty="0">
                <a:latin typeface="Times New Roman"/>
                <a:cs typeface="Times New Roman"/>
              </a:rPr>
              <a:t> </a:t>
            </a:r>
            <a:r>
              <a:rPr lang="en-IN" sz="2000" spc="-50" dirty="0">
                <a:latin typeface="Times New Roman"/>
                <a:cs typeface="Times New Roman"/>
              </a:rPr>
              <a:t>: </a:t>
            </a:r>
          </a:p>
          <a:p>
            <a:pPr marR="5080" algn="l">
              <a:lnSpc>
                <a:spcPct val="100000"/>
              </a:lnSpc>
              <a:spcBef>
                <a:spcPts val="375"/>
              </a:spcBef>
            </a:pPr>
            <a:r>
              <a:rPr lang="en-IN" sz="2000" spc="-50" dirty="0">
                <a:latin typeface="Times New Roman"/>
                <a:cs typeface="Times New Roman"/>
              </a:rPr>
              <a:t>2411CS020107 Ch Sai Sudeep</a:t>
            </a:r>
          </a:p>
          <a:p>
            <a:pPr marR="5080" algn="l">
              <a:lnSpc>
                <a:spcPct val="100000"/>
              </a:lnSpc>
              <a:spcBef>
                <a:spcPts val="375"/>
              </a:spcBef>
            </a:pPr>
            <a:r>
              <a:rPr lang="en-IN" sz="2000" spc="-50" dirty="0">
                <a:latin typeface="Times New Roman"/>
                <a:cs typeface="Times New Roman"/>
              </a:rPr>
              <a:t> 2411CS020123 C Ananya Reddy</a:t>
            </a:r>
          </a:p>
          <a:p>
            <a:pPr marR="5080" algn="l">
              <a:lnSpc>
                <a:spcPct val="100000"/>
              </a:lnSpc>
              <a:spcBef>
                <a:spcPts val="375"/>
              </a:spcBef>
            </a:pPr>
            <a:r>
              <a:rPr lang="en-IN" sz="2000" spc="-50" dirty="0">
                <a:latin typeface="Times New Roman"/>
                <a:cs typeface="Times New Roman"/>
              </a:rPr>
              <a:t>2411CS020163 D Sowmya </a:t>
            </a:r>
            <a:r>
              <a:rPr lang="en-IN" sz="2000" spc="-50" dirty="0" err="1">
                <a:latin typeface="Times New Roman"/>
                <a:cs typeface="Times New Roman"/>
              </a:rPr>
              <a:t>Sravani</a:t>
            </a:r>
            <a:endParaRPr lang="en-IN" sz="2000" spc="-50" dirty="0">
              <a:latin typeface="Times New Roman"/>
              <a:cs typeface="Times New Roman"/>
            </a:endParaRPr>
          </a:p>
          <a:p>
            <a:pPr marR="5080" algn="l">
              <a:lnSpc>
                <a:spcPct val="100000"/>
              </a:lnSpc>
              <a:spcBef>
                <a:spcPts val="375"/>
              </a:spcBef>
            </a:pPr>
            <a:r>
              <a:rPr lang="en-IN" sz="2000" spc="-50" dirty="0">
                <a:latin typeface="Times New Roman"/>
                <a:cs typeface="Times New Roman"/>
              </a:rPr>
              <a:t>2411CS020169 E Siddhartha</a:t>
            </a:r>
          </a:p>
          <a:p>
            <a:pPr marR="5080" algn="l">
              <a:lnSpc>
                <a:spcPct val="100000"/>
              </a:lnSpc>
              <a:spcBef>
                <a:spcPts val="375"/>
              </a:spcBef>
            </a:pPr>
            <a:r>
              <a:rPr lang="en-IN" sz="2000" spc="-50" dirty="0">
                <a:latin typeface="Times New Roman"/>
                <a:cs typeface="Times New Roman"/>
              </a:rPr>
              <a:t>2411CS020171 E Sunny Reddy</a:t>
            </a:r>
            <a:endParaRPr lang="en-IN" sz="2000" dirty="0">
              <a:latin typeface="Times New Roman"/>
              <a:cs typeface="Times New Roman"/>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713120" y="1354975"/>
            <a:ext cx="7880465" cy="584775"/>
          </a:xfrm>
          <a:prstGeom prst="rect">
            <a:avLst/>
          </a:prstGeom>
        </p:spPr>
        <p:txBody>
          <a:bodyPr wrap="square">
            <a:spAutoFit/>
          </a:bodyPr>
          <a:lstStyle/>
          <a:p>
            <a:r>
              <a:rPr lang="en-IN" sz="3200" b="1" spc="-10" dirty="0"/>
              <a:t>Abstract</a:t>
            </a:r>
            <a:endParaRPr lang="en-IN" sz="3200" b="1" dirty="0"/>
          </a:p>
        </p:txBody>
      </p:sp>
      <p:sp>
        <p:nvSpPr>
          <p:cNvPr id="3" name="TextBox 2">
            <a:extLst>
              <a:ext uri="{FF2B5EF4-FFF2-40B4-BE49-F238E27FC236}">
                <a16:creationId xmlns:a16="http://schemas.microsoft.com/office/drawing/2014/main" id="{3565525C-63A4-F1EB-24C1-F2DC6F119162}"/>
              </a:ext>
            </a:extLst>
          </p:cNvPr>
          <p:cNvSpPr txBox="1"/>
          <p:nvPr/>
        </p:nvSpPr>
        <p:spPr>
          <a:xfrm>
            <a:off x="713120" y="2056686"/>
            <a:ext cx="10747952" cy="4431983"/>
          </a:xfrm>
          <a:prstGeom prst="rect">
            <a:avLst/>
          </a:prstGeom>
          <a:noFill/>
        </p:spPr>
        <p:txBody>
          <a:bodyPr wrap="square" rtlCol="0">
            <a:spAutoFit/>
          </a:bodyPr>
          <a:lstStyle/>
          <a:p>
            <a:r>
              <a:rPr lang="en-US" sz="2400" dirty="0"/>
              <a:t>The direct sale from farmers to consumers is a digital initiative aimed at eliminating intermediaries in the agricultural supply chain. Farmers often receive minimal returns for their produce due to multiple layers of middlemen, while urban consumers pay higher prices for food that is not always fresh. By creating a digital marketplace, farmers can directly connect with consumers in urban areas, ensuring fair pricing, improved profits, and access to fresh, locally grown produce. The platform leverages technology to provide real-time updates on available produce, transparent pricing, secure payments, and efficient delivery or pickup mechanisms. This system not only empowers farmers economically but also promotes sustainable urban food systems by reducing food miles, supporting local agriculture, and ensuring traceability and trust between producers and consumers.</a:t>
            </a:r>
            <a:endParaRPr lang="en-IN" sz="2400" dirty="0"/>
          </a:p>
          <a:p>
            <a:endParaRPr lang="en-IN"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964205" y="1523600"/>
            <a:ext cx="3049553" cy="523220"/>
          </a:xfrm>
          <a:prstGeom prst="rect">
            <a:avLst/>
          </a:prstGeom>
        </p:spPr>
        <p:txBody>
          <a:bodyPr wrap="none">
            <a:spAutoFit/>
          </a:bodyPr>
          <a:lstStyle/>
          <a:p>
            <a:r>
              <a:rPr lang="en-IN" sz="2800" b="1" spc="-10" dirty="0"/>
              <a:t>Problem</a:t>
            </a:r>
            <a:r>
              <a:rPr lang="en-IN" sz="2800" b="1" spc="-90" dirty="0"/>
              <a:t> </a:t>
            </a:r>
            <a:r>
              <a:rPr lang="en-IN" sz="2800" b="1" spc="-10" dirty="0"/>
              <a:t>Statement</a:t>
            </a:r>
            <a:endParaRPr lang="en-IN" sz="2800" b="1" dirty="0"/>
          </a:p>
        </p:txBody>
      </p:sp>
      <p:sp>
        <p:nvSpPr>
          <p:cNvPr id="3" name="TextBox 2">
            <a:extLst>
              <a:ext uri="{FF2B5EF4-FFF2-40B4-BE49-F238E27FC236}">
                <a16:creationId xmlns:a16="http://schemas.microsoft.com/office/drawing/2014/main" id="{89835D90-2E7A-99E5-37E9-1421409F8932}"/>
              </a:ext>
            </a:extLst>
          </p:cNvPr>
          <p:cNvSpPr txBox="1"/>
          <p:nvPr/>
        </p:nvSpPr>
        <p:spPr>
          <a:xfrm>
            <a:off x="964205" y="2396972"/>
            <a:ext cx="10102789" cy="3323987"/>
          </a:xfrm>
          <a:prstGeom prst="rect">
            <a:avLst/>
          </a:prstGeom>
          <a:noFill/>
        </p:spPr>
        <p:txBody>
          <a:bodyPr wrap="square" rtlCol="0">
            <a:spAutoFit/>
          </a:bodyPr>
          <a:lstStyle/>
          <a:p>
            <a:r>
              <a:rPr lang="en-US" sz="2400" dirty="0"/>
              <a:t>The current agricultural marketing system is dominated by intermediaries, resulting in farmers earning significantly less than the market price for their produce. At the same time, urban consumers face inflated costs, limited transparency, and reduced freshness of food products. This gap between producers and consumers creates economic inequality, reduces farmer motivation, and contributes to food wastage. There is an urgent need for a platform that enables farmers to directly reach consumers, ensuring fair trade, transparent pricing, and sustainable supply chains that benefit both parties.</a:t>
            </a:r>
            <a:endParaRPr lang="en-IN" sz="2400" dirty="0"/>
          </a:p>
          <a:p>
            <a:endParaRPr lang="en-IN"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741854" y="1473723"/>
            <a:ext cx="3455433" cy="646331"/>
          </a:xfrm>
          <a:prstGeom prst="rect">
            <a:avLst/>
          </a:prstGeom>
        </p:spPr>
        <p:txBody>
          <a:bodyPr wrap="none">
            <a:spAutoFit/>
          </a:bodyPr>
          <a:lstStyle/>
          <a:p>
            <a:r>
              <a:rPr lang="en-IN" sz="3600" b="1" dirty="0"/>
              <a:t>Literature Survey</a:t>
            </a:r>
          </a:p>
        </p:txBody>
      </p:sp>
      <p:sp>
        <p:nvSpPr>
          <p:cNvPr id="3" name="TextBox 2">
            <a:extLst>
              <a:ext uri="{FF2B5EF4-FFF2-40B4-BE49-F238E27FC236}">
                <a16:creationId xmlns:a16="http://schemas.microsoft.com/office/drawing/2014/main" id="{82A5A020-C470-8405-1650-1F77BF43214D}"/>
              </a:ext>
            </a:extLst>
          </p:cNvPr>
          <p:cNvSpPr txBox="1"/>
          <p:nvPr/>
        </p:nvSpPr>
        <p:spPr>
          <a:xfrm>
            <a:off x="741854" y="2201663"/>
            <a:ext cx="9756559" cy="4101123"/>
          </a:xfrm>
          <a:prstGeom prst="rect">
            <a:avLst/>
          </a:prstGeom>
          <a:noFill/>
        </p:spPr>
        <p:txBody>
          <a:bodyPr wrap="square" rtlCol="0">
            <a:spAutoFit/>
          </a:bodyPr>
          <a:lstStyle/>
          <a:p>
            <a:pPr marL="36830">
              <a:lnSpc>
                <a:spcPct val="100000"/>
              </a:lnSpc>
              <a:spcBef>
                <a:spcPts val="90"/>
              </a:spcBef>
            </a:pPr>
            <a:r>
              <a:rPr lang="en-US" sz="2000" b="1" dirty="0"/>
              <a:t>Survey</a:t>
            </a:r>
            <a:r>
              <a:rPr lang="en-US" sz="2000" b="1" spc="-40" dirty="0"/>
              <a:t> </a:t>
            </a:r>
            <a:r>
              <a:rPr lang="en-US" sz="2000" b="1" dirty="0"/>
              <a:t>–</a:t>
            </a:r>
            <a:r>
              <a:rPr lang="en-US" sz="2000" b="1" spc="-20" dirty="0"/>
              <a:t> </a:t>
            </a:r>
            <a:r>
              <a:rPr lang="en-US" sz="2000" b="1" spc="-25" dirty="0"/>
              <a:t>I</a:t>
            </a:r>
          </a:p>
          <a:p>
            <a:pPr marL="36830">
              <a:lnSpc>
                <a:spcPct val="100000"/>
              </a:lnSpc>
              <a:spcBef>
                <a:spcPts val="90"/>
              </a:spcBef>
            </a:pPr>
            <a:endParaRPr lang="en-US" sz="2000" b="1" dirty="0"/>
          </a:p>
          <a:p>
            <a:pPr marL="36830">
              <a:lnSpc>
                <a:spcPct val="100000"/>
              </a:lnSpc>
              <a:spcBef>
                <a:spcPts val="90"/>
              </a:spcBef>
            </a:pPr>
            <a:r>
              <a:rPr lang="en-US" sz="2000" b="1" dirty="0"/>
              <a:t>Title:</a:t>
            </a:r>
            <a:r>
              <a:rPr lang="en-US" sz="2000" dirty="0"/>
              <a:t> </a:t>
            </a:r>
            <a:r>
              <a:rPr lang="en-US" sz="2000" i="1" dirty="0"/>
              <a:t>Enabling Farmer Producer Companies’ Success in Marketing</a:t>
            </a:r>
            <a:br>
              <a:rPr lang="en-US" sz="2000" dirty="0"/>
            </a:br>
            <a:r>
              <a:rPr lang="en-US" sz="2000" b="1" dirty="0"/>
              <a:t>Authors:</a:t>
            </a:r>
            <a:r>
              <a:rPr lang="en-US" sz="2000" dirty="0"/>
              <a:t> </a:t>
            </a:r>
            <a:r>
              <a:rPr lang="en-US" sz="2000" dirty="0" err="1"/>
              <a:t>IDinsight</a:t>
            </a:r>
            <a:r>
              <a:rPr lang="en-US" sz="2000" dirty="0"/>
              <a:t> </a:t>
            </a:r>
          </a:p>
          <a:p>
            <a:pPr marL="36830">
              <a:lnSpc>
                <a:spcPct val="100000"/>
              </a:lnSpc>
              <a:spcBef>
                <a:spcPts val="90"/>
              </a:spcBef>
            </a:pPr>
            <a:r>
              <a:rPr lang="en-US" sz="2000" b="1" dirty="0"/>
              <a:t>Year:</a:t>
            </a:r>
            <a:r>
              <a:rPr lang="en-US" sz="2000" dirty="0"/>
              <a:t> 2021</a:t>
            </a:r>
            <a:br>
              <a:rPr lang="en-US" sz="2000" dirty="0"/>
            </a:br>
            <a:r>
              <a:rPr lang="en-US" sz="2000" b="1" dirty="0"/>
              <a:t>Summary:</a:t>
            </a:r>
            <a:br>
              <a:rPr lang="en-US" sz="2000" dirty="0"/>
            </a:br>
            <a:r>
              <a:rPr lang="en-US" sz="2000" dirty="0"/>
              <a:t>This policy brief studies how Farmer Producer Companies (FPOs) help smallholders overcome scale barriers in marketing—by aggregating produce, improving access to inputs, facilitating infrastructure/technology, and building market linkages. Evidence indicates FPOs can raise farmers’ bargaining power and prices received, provided they get support for management capacity, working capital, and market connections—making them an effective vehicle for direct or near-direct farmer-to-consumer models.</a:t>
            </a:r>
            <a:endParaRPr lang="en-US" sz="2000" dirty="0">
              <a:latin typeface="Times New Roman"/>
              <a:cs typeface="Times New Roman"/>
            </a:endParaRPr>
          </a:p>
          <a:p>
            <a:endParaRPr lang="en-IN" dirty="0"/>
          </a:p>
        </p:txBody>
      </p:sp>
    </p:spTree>
    <p:extLst>
      <p:ext uri="{BB962C8B-B14F-4D97-AF65-F5344CB8AC3E}">
        <p14:creationId xmlns:p14="http://schemas.microsoft.com/office/powerpoint/2010/main" val="281995359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300D6D0-8595-F4B1-F9A5-DEF883DC8FDA}"/>
              </a:ext>
            </a:extLst>
          </p:cNvPr>
          <p:cNvSpPr txBox="1"/>
          <p:nvPr/>
        </p:nvSpPr>
        <p:spPr>
          <a:xfrm>
            <a:off x="745724" y="1535838"/>
            <a:ext cx="10380956" cy="4524315"/>
          </a:xfrm>
          <a:prstGeom prst="rect">
            <a:avLst/>
          </a:prstGeom>
          <a:noFill/>
        </p:spPr>
        <p:txBody>
          <a:bodyPr wrap="square" rtlCol="0">
            <a:spAutoFit/>
          </a:bodyPr>
          <a:lstStyle/>
          <a:p>
            <a:r>
              <a:rPr lang="en-US" sz="2400" b="1" dirty="0"/>
              <a:t>Survey</a:t>
            </a:r>
            <a:r>
              <a:rPr lang="en-US" sz="2400" b="1" spc="-40" dirty="0"/>
              <a:t> </a:t>
            </a:r>
            <a:r>
              <a:rPr lang="en-US" sz="2400" b="1" dirty="0"/>
              <a:t>–</a:t>
            </a:r>
            <a:r>
              <a:rPr lang="en-US" sz="2400" b="1" spc="-20" dirty="0"/>
              <a:t> </a:t>
            </a:r>
            <a:r>
              <a:rPr lang="en-US" sz="2400" b="1" spc="-25" dirty="0"/>
              <a:t>II </a:t>
            </a:r>
          </a:p>
          <a:p>
            <a:br>
              <a:rPr lang="en-US" sz="2400" spc="-25" dirty="0"/>
            </a:br>
            <a:r>
              <a:rPr lang="en-US" sz="2400" b="1" dirty="0"/>
              <a:t>Title:</a:t>
            </a:r>
            <a:r>
              <a:rPr lang="en-US" sz="2400" dirty="0"/>
              <a:t> </a:t>
            </a:r>
            <a:r>
              <a:rPr lang="en-US" sz="2400" b="0" i="1" dirty="0"/>
              <a:t>Web-Enabled Direct Marketing of Agricultural Produce</a:t>
            </a:r>
            <a:br>
              <a:rPr lang="en-US" sz="2400" dirty="0"/>
            </a:br>
            <a:r>
              <a:rPr lang="en-US" sz="2400" b="1" dirty="0"/>
              <a:t>Authors:</a:t>
            </a:r>
            <a:r>
              <a:rPr lang="en-US" sz="2400" dirty="0"/>
              <a:t> </a:t>
            </a:r>
            <a:r>
              <a:rPr lang="en-US" sz="2400" b="0" dirty="0"/>
              <a:t>IJSAT Journal </a:t>
            </a:r>
            <a:br>
              <a:rPr lang="en-US" sz="2400" b="0" dirty="0"/>
            </a:br>
            <a:r>
              <a:rPr lang="en-US" sz="2400" b="1" dirty="0"/>
              <a:t>Year:</a:t>
            </a:r>
            <a:r>
              <a:rPr lang="en-US" sz="2400" dirty="0"/>
              <a:t> </a:t>
            </a:r>
            <a:r>
              <a:rPr lang="en-US" sz="2400" b="0" dirty="0"/>
              <a:t>2025</a:t>
            </a:r>
            <a:br>
              <a:rPr lang="en-US" sz="2400" dirty="0"/>
            </a:br>
            <a:r>
              <a:rPr lang="en-US" sz="2400" b="1" dirty="0"/>
              <a:t>Summary:</a:t>
            </a:r>
            <a:br>
              <a:rPr lang="en-US" sz="2400" dirty="0"/>
            </a:br>
            <a:r>
              <a:rPr lang="en-US" sz="2400" b="0" dirty="0"/>
              <a:t>Reports on a pilot digital platform where farmers list produce and transact directly with buyers. The study examines usability, adoption, and user feedback from both farmers and consumers, finding improved price transparency, faster payments, and reduced spoilage when orders are pre-aggregated. It also flags challenges: last-mile logistics, trust/quality verification, and onboarding/training needs—key design inputs for farmer-to-consumer app development.</a:t>
            </a:r>
            <a:endParaRPr lang="en-IN" sz="2400" dirty="0"/>
          </a:p>
        </p:txBody>
      </p:sp>
    </p:spTree>
    <p:extLst>
      <p:ext uri="{BB962C8B-B14F-4D97-AF65-F5344CB8AC3E}">
        <p14:creationId xmlns:p14="http://schemas.microsoft.com/office/powerpoint/2010/main" val="338448188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D676BB2-CF62-4E7E-41EC-6475C9EA6C7B}"/>
              </a:ext>
            </a:extLst>
          </p:cNvPr>
          <p:cNvSpPr txBox="1"/>
          <p:nvPr/>
        </p:nvSpPr>
        <p:spPr>
          <a:xfrm>
            <a:off x="887768" y="2340914"/>
            <a:ext cx="8378300" cy="3416320"/>
          </a:xfrm>
          <a:prstGeom prst="rect">
            <a:avLst/>
          </a:prstGeom>
          <a:noFill/>
        </p:spPr>
        <p:txBody>
          <a:bodyPr wrap="square">
            <a:spAutoFit/>
          </a:bodyPr>
          <a:lstStyle/>
          <a:p>
            <a:r>
              <a:rPr lang="en-US" b="1" dirty="0"/>
              <a:t>Title:</a:t>
            </a:r>
            <a:r>
              <a:rPr lang="en-US" dirty="0"/>
              <a:t> </a:t>
            </a:r>
            <a:r>
              <a:rPr lang="en-US" i="1" dirty="0"/>
              <a:t>AI-Integrated Urban Harvesting and Smart Agriculture Platform</a:t>
            </a:r>
            <a:br>
              <a:rPr lang="en-US" dirty="0"/>
            </a:br>
            <a:r>
              <a:rPr lang="en-US" b="1" dirty="0"/>
              <a:t>Authors:</a:t>
            </a:r>
            <a:r>
              <a:rPr lang="en-US" dirty="0"/>
              <a:t> International Journal of Emerging Technologies in Computer Science (IJETCS)</a:t>
            </a:r>
            <a:br>
              <a:rPr lang="en-US" dirty="0"/>
            </a:br>
            <a:r>
              <a:rPr lang="en-US" b="1" dirty="0"/>
              <a:t>Year:</a:t>
            </a:r>
            <a:r>
              <a:rPr lang="en-US" dirty="0"/>
              <a:t> 2025</a:t>
            </a:r>
            <a:br>
              <a:rPr lang="en-US" dirty="0"/>
            </a:br>
            <a:r>
              <a:rPr lang="en-US" b="1" dirty="0"/>
              <a:t>Summary:</a:t>
            </a:r>
            <a:br>
              <a:rPr lang="en-US" dirty="0"/>
            </a:br>
            <a:r>
              <a:rPr lang="en-US" dirty="0"/>
              <a:t>This study presents an AI-driven platform designed to enhance urban agriculture through real-time weather prediction, crop recommendations, and direct farmer-to-consumer interactions. The system integrates IoT sensors, machine learning models, and mobile interfaces to support urban farmers in decision-making and marketing. Results show improved crop yield forecasting accuracy, reduced wastage, and greater consumer accessibility to fresh produce. Key challenges include data integration across diverse sources, ensuring offline accessibility, and addressing user training needs for sustainable adoption.</a:t>
            </a:r>
            <a:endParaRPr lang="en-IN" dirty="0"/>
          </a:p>
        </p:txBody>
      </p:sp>
      <p:sp>
        <p:nvSpPr>
          <p:cNvPr id="5" name="TextBox 4">
            <a:extLst>
              <a:ext uri="{FF2B5EF4-FFF2-40B4-BE49-F238E27FC236}">
                <a16:creationId xmlns:a16="http://schemas.microsoft.com/office/drawing/2014/main" id="{B4DB6B0E-255D-BC0F-CD7D-61873A6C1D03}"/>
              </a:ext>
            </a:extLst>
          </p:cNvPr>
          <p:cNvSpPr txBox="1"/>
          <p:nvPr/>
        </p:nvSpPr>
        <p:spPr>
          <a:xfrm>
            <a:off x="978763" y="1675205"/>
            <a:ext cx="6094520" cy="400110"/>
          </a:xfrm>
          <a:prstGeom prst="rect">
            <a:avLst/>
          </a:prstGeom>
          <a:noFill/>
        </p:spPr>
        <p:txBody>
          <a:bodyPr wrap="square">
            <a:spAutoFit/>
          </a:bodyPr>
          <a:lstStyle/>
          <a:p>
            <a:r>
              <a:rPr lang="en-US" sz="2000" b="1" dirty="0"/>
              <a:t>Survey</a:t>
            </a:r>
            <a:r>
              <a:rPr lang="en-US" sz="2000" b="1" spc="-40" dirty="0"/>
              <a:t> </a:t>
            </a:r>
            <a:r>
              <a:rPr lang="en-US" sz="2000" b="1" dirty="0"/>
              <a:t>–</a:t>
            </a:r>
            <a:r>
              <a:rPr lang="en-US" sz="2000" b="1" spc="-20" dirty="0"/>
              <a:t> </a:t>
            </a:r>
            <a:r>
              <a:rPr lang="en-US" sz="2000" b="1" spc="-25" dirty="0"/>
              <a:t>III </a:t>
            </a:r>
            <a:endParaRPr lang="en-IN" sz="2000" b="1" dirty="0"/>
          </a:p>
        </p:txBody>
      </p:sp>
    </p:spTree>
    <p:extLst>
      <p:ext uri="{BB962C8B-B14F-4D97-AF65-F5344CB8AC3E}">
        <p14:creationId xmlns:p14="http://schemas.microsoft.com/office/powerpoint/2010/main" val="249745452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C6753AE-3FFE-A0B5-803D-D2FEF8533A59}"/>
              </a:ext>
            </a:extLst>
          </p:cNvPr>
          <p:cNvSpPr txBox="1"/>
          <p:nvPr/>
        </p:nvSpPr>
        <p:spPr>
          <a:xfrm>
            <a:off x="1023151" y="2616123"/>
            <a:ext cx="8218503" cy="3416320"/>
          </a:xfrm>
          <a:prstGeom prst="rect">
            <a:avLst/>
          </a:prstGeom>
          <a:noFill/>
        </p:spPr>
        <p:txBody>
          <a:bodyPr wrap="square">
            <a:spAutoFit/>
          </a:bodyPr>
          <a:lstStyle/>
          <a:p>
            <a:r>
              <a:rPr lang="en-US" b="1" dirty="0"/>
              <a:t>Title: </a:t>
            </a:r>
            <a:r>
              <a:rPr lang="en-US" b="1" i="1" dirty="0"/>
              <a:t>AI-Integrated Urban Harvesting and Smart Agriculture Platform</a:t>
            </a:r>
            <a:endParaRPr lang="en-US" b="1" dirty="0"/>
          </a:p>
          <a:p>
            <a:r>
              <a:rPr lang="en-US" b="1" dirty="0"/>
              <a:t>Authors:</a:t>
            </a:r>
            <a:r>
              <a:rPr lang="en-US" dirty="0"/>
              <a:t> </a:t>
            </a:r>
            <a:r>
              <a:rPr lang="en-US" i="1" dirty="0"/>
              <a:t>International Journal of Emerging Technologies in Computer Science (IJETCS)</a:t>
            </a:r>
            <a:br>
              <a:rPr lang="en-US" dirty="0"/>
            </a:br>
            <a:r>
              <a:rPr lang="en-US" b="1" dirty="0"/>
              <a:t>Year:</a:t>
            </a:r>
            <a:r>
              <a:rPr lang="en-US" dirty="0"/>
              <a:t> </a:t>
            </a:r>
            <a:r>
              <a:rPr lang="en-US" i="1" dirty="0"/>
              <a:t>2025</a:t>
            </a:r>
            <a:br>
              <a:rPr lang="en-US" dirty="0"/>
            </a:br>
            <a:r>
              <a:rPr lang="en-US" b="1" dirty="0"/>
              <a:t>Summary:</a:t>
            </a:r>
            <a:br>
              <a:rPr lang="en-US" dirty="0"/>
            </a:br>
            <a:r>
              <a:rPr lang="en-US" dirty="0"/>
              <a:t>This study presents an AI-driven platform designed to enhance urban agriculture through real-time weather prediction, crop recommendations, and direct farmer-to-consumer interactions. The system integrates IoT sensors, machine learning models, and mobile interfaces to support urban farmers in decision-making and marketing. Results show improved crop yield forecasting accuracy, reduced wastage, and greater consumer accessibility to fresh produce. Key challenges include data integration across diverse sources, ensuring offline accessibility, and addressing user training needs for sustainable adoption.</a:t>
            </a:r>
          </a:p>
        </p:txBody>
      </p:sp>
      <p:sp>
        <p:nvSpPr>
          <p:cNvPr id="5" name="TextBox 4">
            <a:extLst>
              <a:ext uri="{FF2B5EF4-FFF2-40B4-BE49-F238E27FC236}">
                <a16:creationId xmlns:a16="http://schemas.microsoft.com/office/drawing/2014/main" id="{12FD6B27-BC95-C794-1E9A-36ED2B3AED6F}"/>
              </a:ext>
            </a:extLst>
          </p:cNvPr>
          <p:cNvSpPr txBox="1"/>
          <p:nvPr/>
        </p:nvSpPr>
        <p:spPr>
          <a:xfrm>
            <a:off x="1120806" y="1719594"/>
            <a:ext cx="6094520" cy="400110"/>
          </a:xfrm>
          <a:prstGeom prst="rect">
            <a:avLst/>
          </a:prstGeom>
          <a:noFill/>
        </p:spPr>
        <p:txBody>
          <a:bodyPr wrap="square">
            <a:spAutoFit/>
          </a:bodyPr>
          <a:lstStyle/>
          <a:p>
            <a:r>
              <a:rPr lang="en-US" sz="2000" b="1" dirty="0"/>
              <a:t>Survey</a:t>
            </a:r>
            <a:r>
              <a:rPr lang="en-US" sz="2000" b="1" spc="-40" dirty="0"/>
              <a:t> </a:t>
            </a:r>
            <a:r>
              <a:rPr lang="en-US" sz="2000" b="1" dirty="0"/>
              <a:t>–</a:t>
            </a:r>
            <a:r>
              <a:rPr lang="en-US" sz="2000" b="1" spc="-20" dirty="0"/>
              <a:t> </a:t>
            </a:r>
            <a:r>
              <a:rPr lang="en-US" sz="2000" b="1" spc="-25" dirty="0"/>
              <a:t>IV </a:t>
            </a:r>
            <a:endParaRPr lang="en-IN" sz="2000" b="1" dirty="0"/>
          </a:p>
        </p:txBody>
      </p:sp>
    </p:spTree>
    <p:extLst>
      <p:ext uri="{BB962C8B-B14F-4D97-AF65-F5344CB8AC3E}">
        <p14:creationId xmlns:p14="http://schemas.microsoft.com/office/powerpoint/2010/main" val="367078094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8FE7F43-CE78-0CDD-3DC0-CCDD637AB726}"/>
              </a:ext>
            </a:extLst>
          </p:cNvPr>
          <p:cNvSpPr txBox="1"/>
          <p:nvPr/>
        </p:nvSpPr>
        <p:spPr>
          <a:xfrm>
            <a:off x="934375" y="2720901"/>
            <a:ext cx="7499412" cy="2862322"/>
          </a:xfrm>
          <a:prstGeom prst="rect">
            <a:avLst/>
          </a:prstGeom>
          <a:noFill/>
        </p:spPr>
        <p:txBody>
          <a:bodyPr wrap="square">
            <a:spAutoFit/>
          </a:bodyPr>
          <a:lstStyle/>
          <a:p>
            <a:r>
              <a:rPr lang="en-US" b="1" dirty="0"/>
              <a:t>Title: </a:t>
            </a:r>
            <a:r>
              <a:rPr lang="en-US" b="1" i="1" dirty="0"/>
              <a:t>IoT-Based Precision Farming for Urban Agriculture</a:t>
            </a:r>
            <a:endParaRPr lang="en-US" b="1" dirty="0"/>
          </a:p>
          <a:p>
            <a:r>
              <a:rPr lang="en-US" b="1" dirty="0"/>
              <a:t>Authors:</a:t>
            </a:r>
            <a:r>
              <a:rPr lang="en-US" dirty="0"/>
              <a:t> </a:t>
            </a:r>
            <a:r>
              <a:rPr lang="en-US" i="1" dirty="0"/>
              <a:t>International Research Journal of Engineering and Technology (IRJET)</a:t>
            </a:r>
            <a:br>
              <a:rPr lang="en-US" dirty="0"/>
            </a:br>
            <a:r>
              <a:rPr lang="en-US" b="1" dirty="0"/>
              <a:t>Year:</a:t>
            </a:r>
            <a:r>
              <a:rPr lang="en-US" dirty="0"/>
              <a:t> </a:t>
            </a:r>
            <a:r>
              <a:rPr lang="en-US" i="1" dirty="0"/>
              <a:t>2024</a:t>
            </a:r>
            <a:br>
              <a:rPr lang="en-US" dirty="0"/>
            </a:br>
            <a:r>
              <a:rPr lang="en-US" b="1" dirty="0"/>
              <a:t>Summary:</a:t>
            </a:r>
            <a:br>
              <a:rPr lang="en-US" dirty="0"/>
            </a:br>
            <a:r>
              <a:rPr lang="en-US" dirty="0"/>
              <a:t>This paper explores the use of IoT devices for real-time monitoring of soil moisture, temperature, and humidity in rooftop and urban farms. The research demonstrates that automated irrigation and environmental tracking improve productivity and resource efficiency by over 30%. However, it highlights technical challenges such as high setup costs, sensor calibration, and limited scalability in dense urban environments.</a:t>
            </a:r>
          </a:p>
        </p:txBody>
      </p:sp>
      <p:sp>
        <p:nvSpPr>
          <p:cNvPr id="5" name="TextBox 4">
            <a:extLst>
              <a:ext uri="{FF2B5EF4-FFF2-40B4-BE49-F238E27FC236}">
                <a16:creationId xmlns:a16="http://schemas.microsoft.com/office/drawing/2014/main" id="{381145C7-17D5-A5EC-CB9A-452987A889FF}"/>
              </a:ext>
            </a:extLst>
          </p:cNvPr>
          <p:cNvSpPr txBox="1"/>
          <p:nvPr/>
        </p:nvSpPr>
        <p:spPr>
          <a:xfrm>
            <a:off x="934375" y="1666328"/>
            <a:ext cx="6094520" cy="400110"/>
          </a:xfrm>
          <a:prstGeom prst="rect">
            <a:avLst/>
          </a:prstGeom>
          <a:noFill/>
        </p:spPr>
        <p:txBody>
          <a:bodyPr wrap="square">
            <a:spAutoFit/>
          </a:bodyPr>
          <a:lstStyle/>
          <a:p>
            <a:r>
              <a:rPr lang="en-US" sz="2000" b="1" dirty="0"/>
              <a:t>Survey</a:t>
            </a:r>
            <a:r>
              <a:rPr lang="en-US" sz="2000" b="1" spc="-40" dirty="0"/>
              <a:t> </a:t>
            </a:r>
            <a:r>
              <a:rPr lang="en-US" sz="2000" b="1" dirty="0"/>
              <a:t>–</a:t>
            </a:r>
            <a:r>
              <a:rPr lang="en-US" sz="2000" b="1" spc="-20" dirty="0"/>
              <a:t> </a:t>
            </a:r>
            <a:r>
              <a:rPr lang="en-US" sz="2000" b="1" spc="-25" dirty="0"/>
              <a:t>V </a:t>
            </a:r>
            <a:endParaRPr lang="en-IN" sz="2000" b="1" dirty="0"/>
          </a:p>
        </p:txBody>
      </p:sp>
    </p:spTree>
    <p:extLst>
      <p:ext uri="{BB962C8B-B14F-4D97-AF65-F5344CB8AC3E}">
        <p14:creationId xmlns:p14="http://schemas.microsoft.com/office/powerpoint/2010/main" val="200600489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E10CE09-0D8B-F281-053A-B43480591CF2}"/>
              </a:ext>
            </a:extLst>
          </p:cNvPr>
          <p:cNvSpPr txBox="1"/>
          <p:nvPr/>
        </p:nvSpPr>
        <p:spPr>
          <a:xfrm>
            <a:off x="801209" y="2829225"/>
            <a:ext cx="7455023" cy="2585323"/>
          </a:xfrm>
          <a:prstGeom prst="rect">
            <a:avLst/>
          </a:prstGeom>
          <a:noFill/>
        </p:spPr>
        <p:txBody>
          <a:bodyPr wrap="square">
            <a:spAutoFit/>
          </a:bodyPr>
          <a:lstStyle/>
          <a:p>
            <a:r>
              <a:rPr lang="en-US" b="1" dirty="0"/>
              <a:t>Title: </a:t>
            </a:r>
            <a:r>
              <a:rPr lang="en-US" b="1" i="1" dirty="0"/>
              <a:t>Mobile Application for Sustainable Crop Recommendation Systems</a:t>
            </a:r>
            <a:endParaRPr lang="en-US" b="1" dirty="0"/>
          </a:p>
          <a:p>
            <a:r>
              <a:rPr lang="en-US" b="1" dirty="0"/>
              <a:t>Authors:</a:t>
            </a:r>
            <a:r>
              <a:rPr lang="en-US" dirty="0"/>
              <a:t> </a:t>
            </a:r>
            <a:r>
              <a:rPr lang="en-US" i="1" dirty="0"/>
              <a:t>International Journal of Computer Applications (IJCA)</a:t>
            </a:r>
            <a:br>
              <a:rPr lang="en-US" dirty="0"/>
            </a:br>
            <a:r>
              <a:rPr lang="en-US" b="1" dirty="0"/>
              <a:t>Year:</a:t>
            </a:r>
            <a:r>
              <a:rPr lang="en-US" dirty="0"/>
              <a:t> </a:t>
            </a:r>
            <a:r>
              <a:rPr lang="en-US" i="1" dirty="0"/>
              <a:t>2023</a:t>
            </a:r>
            <a:br>
              <a:rPr lang="en-US" dirty="0"/>
            </a:br>
            <a:r>
              <a:rPr lang="en-US" b="1" dirty="0"/>
              <a:t>Summary:</a:t>
            </a:r>
            <a:br>
              <a:rPr lang="en-US" dirty="0"/>
            </a:br>
            <a:r>
              <a:rPr lang="en-US" dirty="0"/>
              <a:t>This research focuses on a mobile-based crop advisory system using machine learning algorithms like K-Nearest Neighbors (KNN) and Decision Trees. The app assists farmers by suggesting optimal crops based on soil and weather conditions. The study reports enhanced farmer decision-making and yield prediction but notes a need f</a:t>
            </a:r>
          </a:p>
        </p:txBody>
      </p:sp>
      <p:sp>
        <p:nvSpPr>
          <p:cNvPr id="5" name="TextBox 4">
            <a:extLst>
              <a:ext uri="{FF2B5EF4-FFF2-40B4-BE49-F238E27FC236}">
                <a16:creationId xmlns:a16="http://schemas.microsoft.com/office/drawing/2014/main" id="{32842838-571B-DC4C-08D6-F30B710E6CF1}"/>
              </a:ext>
            </a:extLst>
          </p:cNvPr>
          <p:cNvSpPr txBox="1"/>
          <p:nvPr/>
        </p:nvSpPr>
        <p:spPr>
          <a:xfrm>
            <a:off x="898863" y="1799493"/>
            <a:ext cx="6094520" cy="400110"/>
          </a:xfrm>
          <a:prstGeom prst="rect">
            <a:avLst/>
          </a:prstGeom>
          <a:noFill/>
        </p:spPr>
        <p:txBody>
          <a:bodyPr wrap="square">
            <a:spAutoFit/>
          </a:bodyPr>
          <a:lstStyle/>
          <a:p>
            <a:r>
              <a:rPr lang="en-US" sz="2000" b="1" dirty="0"/>
              <a:t>Survey</a:t>
            </a:r>
            <a:r>
              <a:rPr lang="en-US" sz="2000" b="1" spc="-40" dirty="0"/>
              <a:t> </a:t>
            </a:r>
            <a:r>
              <a:rPr lang="en-US" sz="2000" b="1" dirty="0"/>
              <a:t>–</a:t>
            </a:r>
            <a:r>
              <a:rPr lang="en-US" sz="2000" b="1" spc="-20" dirty="0"/>
              <a:t> </a:t>
            </a:r>
            <a:r>
              <a:rPr lang="en-US" sz="2000" b="1" spc="-25" dirty="0"/>
              <a:t>VI </a:t>
            </a:r>
            <a:endParaRPr lang="en-IN" sz="2000" b="1" dirty="0"/>
          </a:p>
        </p:txBody>
      </p:sp>
    </p:spTree>
    <p:extLst>
      <p:ext uri="{BB962C8B-B14F-4D97-AF65-F5344CB8AC3E}">
        <p14:creationId xmlns:p14="http://schemas.microsoft.com/office/powerpoint/2010/main" val="300463610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68716" y="1316750"/>
            <a:ext cx="3208764" cy="646331"/>
          </a:xfrm>
          <a:prstGeom prst="rect">
            <a:avLst/>
          </a:prstGeom>
        </p:spPr>
        <p:txBody>
          <a:bodyPr wrap="none">
            <a:spAutoFit/>
          </a:bodyPr>
          <a:lstStyle/>
          <a:p>
            <a:r>
              <a:rPr lang="en-IN" sz="3600" b="1" dirty="0"/>
              <a:t>Data Collection </a:t>
            </a:r>
          </a:p>
        </p:txBody>
      </p:sp>
      <p:sp>
        <p:nvSpPr>
          <p:cNvPr id="4" name="Rectangle 2">
            <a:extLst>
              <a:ext uri="{FF2B5EF4-FFF2-40B4-BE49-F238E27FC236}">
                <a16:creationId xmlns:a16="http://schemas.microsoft.com/office/drawing/2014/main" id="{0F5EC914-5129-BC97-04F0-2DC8ABB2AD83}"/>
              </a:ext>
            </a:extLst>
          </p:cNvPr>
          <p:cNvSpPr>
            <a:spLocks noChangeArrowheads="1"/>
          </p:cNvSpPr>
          <p:nvPr/>
        </p:nvSpPr>
        <p:spPr bwMode="auto">
          <a:xfrm>
            <a:off x="335550" y="1816238"/>
            <a:ext cx="7172156" cy="480131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Arial" panose="020B0604020202020204" pitchFamily="34" charset="0"/>
              </a:rPr>
              <a:t>Sources of Data:</a:t>
            </a:r>
            <a:endParaRPr kumimoji="0" lang="en-US" altLang="en-US" sz="24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Arial" panose="020B0604020202020204" pitchFamily="34" charset="0"/>
              </a:rPr>
              <a:t>Farmer inputs: crop type, quantity,</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Arial" panose="020B0604020202020204" pitchFamily="34" charset="0"/>
              </a:rPr>
              <a:t> and availability schedule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Arial" panose="020B0604020202020204" pitchFamily="34" charset="0"/>
              </a:rPr>
              <a:t>Consumer data: demand patterns,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Arial" panose="020B0604020202020204" pitchFamily="34" charset="0"/>
              </a:rPr>
              <a:t>location, and order frequency</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Arial" panose="020B0604020202020204" pitchFamily="34" charset="0"/>
              </a:rPr>
              <a:t>Market data: current prices, seasonal trends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Arial" panose="020B0604020202020204" pitchFamily="34" charset="0"/>
              </a:rPr>
              <a:t>Logistics: delivery partner details and route data</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Arial" panose="020B0604020202020204" pitchFamily="34" charset="0"/>
              </a:rPr>
              <a:t>Data Collection Methods:</a:t>
            </a:r>
            <a:endParaRPr kumimoji="0" lang="en-US" altLang="en-US" sz="24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Arial" panose="020B0604020202020204" pitchFamily="34" charset="0"/>
              </a:rPr>
              <a:t>Mobile app input forms for farmers and consumers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Arial" panose="020B0604020202020204" pitchFamily="34" charset="0"/>
              </a:rPr>
              <a:t>GPS integration for location tracking</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Arial" panose="020B0604020202020204" pitchFamily="34" charset="0"/>
              </a:rPr>
              <a:t>APIs for real-time market prices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Arial" panose="020B0604020202020204" pitchFamily="34" charset="0"/>
              </a:rPr>
              <a:t>Cloud storage for centralized data access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6" name="Picture 5">
            <a:extLst>
              <a:ext uri="{FF2B5EF4-FFF2-40B4-BE49-F238E27FC236}">
                <a16:creationId xmlns:a16="http://schemas.microsoft.com/office/drawing/2014/main" id="{F09E4448-EB32-82D5-4315-61062FBC7533}"/>
              </a:ext>
            </a:extLst>
          </p:cNvPr>
          <p:cNvPicPr>
            <a:picLocks noChangeAspect="1"/>
          </p:cNvPicPr>
          <p:nvPr/>
        </p:nvPicPr>
        <p:blipFill rotWithShape="1">
          <a:blip r:embed="rId2">
            <a:extLst>
              <a:ext uri="{28A0092B-C50C-407E-A947-70E740481C1C}">
                <a14:useLocalDpi xmlns:a14="http://schemas.microsoft.com/office/drawing/2010/main" val="0"/>
              </a:ext>
            </a:extLst>
          </a:blip>
          <a:srcRect l="-2513" t="35469" r="118" b="33074"/>
          <a:stretch/>
        </p:blipFill>
        <p:spPr>
          <a:xfrm>
            <a:off x="5003403" y="1463232"/>
            <a:ext cx="7022237" cy="2157274"/>
          </a:xfrm>
          <a:prstGeom prst="rect">
            <a:avLst/>
          </a:prstGeom>
        </p:spPr>
      </p:pic>
    </p:spTree>
    <p:extLst>
      <p:ext uri="{BB962C8B-B14F-4D97-AF65-F5344CB8AC3E}">
        <p14:creationId xmlns:p14="http://schemas.microsoft.com/office/powerpoint/2010/main" val="111283603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DC5BB80-4CC8-E5F0-7B2C-82A55A696552}"/>
              </a:ext>
            </a:extLst>
          </p:cNvPr>
          <p:cNvSpPr txBox="1"/>
          <p:nvPr/>
        </p:nvSpPr>
        <p:spPr>
          <a:xfrm>
            <a:off x="719092" y="1222444"/>
            <a:ext cx="6094520" cy="707886"/>
          </a:xfrm>
          <a:prstGeom prst="rect">
            <a:avLst/>
          </a:prstGeom>
          <a:noFill/>
        </p:spPr>
        <p:txBody>
          <a:bodyPr wrap="square">
            <a:spAutoFit/>
          </a:bodyPr>
          <a:lstStyle/>
          <a:p>
            <a:r>
              <a:rPr lang="en-IN" sz="4000" b="1" dirty="0" err="1"/>
              <a:t>Preprocessing</a:t>
            </a:r>
            <a:endParaRPr lang="en-IN" sz="4000" b="1" dirty="0"/>
          </a:p>
        </p:txBody>
      </p:sp>
      <p:sp>
        <p:nvSpPr>
          <p:cNvPr id="4" name="Rectangle 1">
            <a:extLst>
              <a:ext uri="{FF2B5EF4-FFF2-40B4-BE49-F238E27FC236}">
                <a16:creationId xmlns:a16="http://schemas.microsoft.com/office/drawing/2014/main" id="{BC1BA535-05AB-47C2-0246-0EB24CF4F994}"/>
              </a:ext>
            </a:extLst>
          </p:cNvPr>
          <p:cNvSpPr>
            <a:spLocks noChangeArrowheads="1"/>
          </p:cNvSpPr>
          <p:nvPr/>
        </p:nvSpPr>
        <p:spPr bwMode="auto">
          <a:xfrm>
            <a:off x="719092" y="1929881"/>
            <a:ext cx="7366119" cy="443198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200" b="1" i="0" u="none" strike="noStrike" cap="none" normalizeH="0" baseline="0" dirty="0">
                <a:ln>
                  <a:noFill/>
                </a:ln>
                <a:solidFill>
                  <a:schemeClr val="tx1"/>
                </a:solidFill>
                <a:effectLst/>
                <a:latin typeface="Arial" panose="020B0604020202020204" pitchFamily="34" charset="0"/>
              </a:rPr>
              <a:t>Cleaning:</a:t>
            </a:r>
            <a:endParaRPr kumimoji="0" lang="en-US" altLang="en-US" sz="22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200" b="0" i="0" u="none" strike="noStrike" cap="none" normalizeH="0" baseline="0" dirty="0">
                <a:ln>
                  <a:noFill/>
                </a:ln>
                <a:solidFill>
                  <a:schemeClr val="tx1"/>
                </a:solidFill>
                <a:effectLst/>
                <a:latin typeface="Arial" panose="020B0604020202020204" pitchFamily="34" charset="0"/>
              </a:rPr>
              <a:t>Removing duplicates and inconsistent entries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200" b="0" i="0" u="none" strike="noStrike" cap="none" normalizeH="0" baseline="0" dirty="0">
                <a:ln>
                  <a:noFill/>
                </a:ln>
                <a:solidFill>
                  <a:schemeClr val="tx1"/>
                </a:solidFill>
                <a:effectLst/>
                <a:latin typeface="Arial" panose="020B0604020202020204" pitchFamily="34" charset="0"/>
              </a:rPr>
              <a:t>Handling missing or incomplete data</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200" b="1" i="0" u="none" strike="noStrike" cap="none" normalizeH="0" baseline="0" dirty="0">
                <a:ln>
                  <a:noFill/>
                </a:ln>
                <a:solidFill>
                  <a:schemeClr val="tx1"/>
                </a:solidFill>
                <a:effectLst/>
                <a:latin typeface="Arial" panose="020B0604020202020204" pitchFamily="34" charset="0"/>
              </a:rPr>
              <a:t>Transformation:</a:t>
            </a:r>
            <a:endParaRPr kumimoji="0" lang="en-US" altLang="en-US" sz="22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200" b="0" i="0" u="none" strike="noStrike" cap="none" normalizeH="0" baseline="0" dirty="0">
                <a:ln>
                  <a:noFill/>
                </a:ln>
                <a:solidFill>
                  <a:schemeClr val="tx1"/>
                </a:solidFill>
                <a:effectLst/>
                <a:latin typeface="Arial" panose="020B0604020202020204" pitchFamily="34" charset="0"/>
              </a:rPr>
              <a:t>Normalizing price units (₹/kg, ₹/dozen, etc.)</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200" b="0" i="0" u="none" strike="noStrike" cap="none" normalizeH="0" baseline="0" dirty="0">
                <a:ln>
                  <a:noFill/>
                </a:ln>
                <a:solidFill>
                  <a:schemeClr val="tx1"/>
                </a:solidFill>
                <a:effectLst/>
                <a:latin typeface="Arial" panose="020B0604020202020204" pitchFamily="34" charset="0"/>
              </a:rPr>
              <a:t>Converting text inputs into structured formats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200" b="1" i="0" u="none" strike="noStrike" cap="none" normalizeH="0" baseline="0" dirty="0">
                <a:ln>
                  <a:noFill/>
                </a:ln>
                <a:solidFill>
                  <a:schemeClr val="tx1"/>
                </a:solidFill>
                <a:effectLst/>
                <a:latin typeface="Arial" panose="020B0604020202020204" pitchFamily="34" charset="0"/>
              </a:rPr>
              <a:t>Feature Extraction:</a:t>
            </a:r>
            <a:endParaRPr kumimoji="0" lang="en-US" altLang="en-US" sz="22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200" b="0" i="0" u="none" strike="noStrike" cap="none" normalizeH="0" baseline="0" dirty="0">
                <a:ln>
                  <a:noFill/>
                </a:ln>
                <a:solidFill>
                  <a:schemeClr val="tx1"/>
                </a:solidFill>
                <a:effectLst/>
                <a:latin typeface="Arial" panose="020B0604020202020204" pitchFamily="34" charset="0"/>
              </a:rPr>
              <a:t>Farmer reliability, product freshness, and delivery speed</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200" b="0" i="0" u="none" strike="noStrike" cap="none" normalizeH="0" baseline="0" dirty="0">
                <a:ln>
                  <a:noFill/>
                </a:ln>
                <a:solidFill>
                  <a:schemeClr val="tx1"/>
                </a:solidFill>
                <a:effectLst/>
                <a:latin typeface="Arial" panose="020B0604020202020204" pitchFamily="34" charset="0"/>
              </a:rPr>
              <a:t>Consumer buying patterns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200" b="1" i="0" u="none" strike="noStrike" cap="none" normalizeH="0" baseline="0" dirty="0">
                <a:ln>
                  <a:noFill/>
                </a:ln>
                <a:solidFill>
                  <a:schemeClr val="tx1"/>
                </a:solidFill>
                <a:effectLst/>
                <a:latin typeface="Arial" panose="020B0604020202020204" pitchFamily="34" charset="0"/>
              </a:rPr>
              <a:t>Data Storage:</a:t>
            </a:r>
            <a:endParaRPr kumimoji="0" lang="en-US" altLang="en-US" sz="22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200" b="0" i="0" u="none" strike="noStrike" cap="none" normalizeH="0" baseline="0" dirty="0">
                <a:ln>
                  <a:noFill/>
                </a:ln>
                <a:solidFill>
                  <a:schemeClr val="tx1"/>
                </a:solidFill>
                <a:effectLst/>
                <a:latin typeface="Arial" panose="020B0604020202020204" pitchFamily="34" charset="0"/>
              </a:rPr>
              <a:t>Preprocessed data stored in a secure cloud database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200" b="0" i="0" u="none" strike="noStrike" cap="none" normalizeH="0" baseline="0" dirty="0">
                <a:ln>
                  <a:noFill/>
                </a:ln>
                <a:solidFill>
                  <a:schemeClr val="tx1"/>
                </a:solidFill>
                <a:effectLst/>
                <a:latin typeface="Arial" panose="020B0604020202020204" pitchFamily="34" charset="0"/>
              </a:rPr>
              <a:t>Ready for use in recommendation and pricing algorithms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7" name="AutoShape 3" descr="Image of ">
            <a:extLst>
              <a:ext uri="{FF2B5EF4-FFF2-40B4-BE49-F238E27FC236}">
                <a16:creationId xmlns:a16="http://schemas.microsoft.com/office/drawing/2014/main" id="{79987468-E61B-C662-AEF0-E0D0E420AB93}"/>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9" name="Picture 8">
            <a:extLst>
              <a:ext uri="{FF2B5EF4-FFF2-40B4-BE49-F238E27FC236}">
                <a16:creationId xmlns:a16="http://schemas.microsoft.com/office/drawing/2014/main" id="{35EE1491-6CD1-0730-3069-49DE5619F8FA}"/>
              </a:ext>
            </a:extLst>
          </p:cNvPr>
          <p:cNvPicPr>
            <a:picLocks noChangeAspect="1"/>
          </p:cNvPicPr>
          <p:nvPr/>
        </p:nvPicPr>
        <p:blipFill rotWithShape="1">
          <a:blip r:embed="rId2">
            <a:extLst>
              <a:ext uri="{28A0092B-C50C-407E-A947-70E740481C1C}">
                <a14:useLocalDpi xmlns:a14="http://schemas.microsoft.com/office/drawing/2010/main" val="0"/>
              </a:ext>
            </a:extLst>
          </a:blip>
          <a:srcRect l="1" t="39063" r="1794" b="33317"/>
          <a:stretch/>
        </p:blipFill>
        <p:spPr>
          <a:xfrm>
            <a:off x="6552388" y="2796465"/>
            <a:ext cx="5485733" cy="1491449"/>
          </a:xfrm>
          <a:prstGeom prst="rect">
            <a:avLst/>
          </a:prstGeom>
        </p:spPr>
      </p:pic>
    </p:spTree>
    <p:extLst>
      <p:ext uri="{BB962C8B-B14F-4D97-AF65-F5344CB8AC3E}">
        <p14:creationId xmlns:p14="http://schemas.microsoft.com/office/powerpoint/2010/main" val="282213435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82F3DDC3-69D4-B988-FCB9-8B8599FA03E8}"/>
              </a:ext>
            </a:extLst>
          </p:cNvPr>
          <p:cNvGraphicFramePr>
            <a:graphicFrameLocks noGrp="1"/>
          </p:cNvGraphicFramePr>
          <p:nvPr>
            <p:extLst>
              <p:ext uri="{D42A27DB-BD31-4B8C-83A1-F6EECF244321}">
                <p14:modId xmlns:p14="http://schemas.microsoft.com/office/powerpoint/2010/main" val="3333750490"/>
              </p:ext>
            </p:extLst>
          </p:nvPr>
        </p:nvGraphicFramePr>
        <p:xfrm>
          <a:off x="772356" y="1118587"/>
          <a:ext cx="10688715" cy="5417409"/>
        </p:xfrm>
        <a:graphic>
          <a:graphicData uri="http://schemas.openxmlformats.org/drawingml/2006/table">
            <a:tbl>
              <a:tblPr/>
              <a:tblGrid>
                <a:gridCol w="3562905">
                  <a:extLst>
                    <a:ext uri="{9D8B030D-6E8A-4147-A177-3AD203B41FA5}">
                      <a16:colId xmlns:a16="http://schemas.microsoft.com/office/drawing/2014/main" val="1353726824"/>
                    </a:ext>
                  </a:extLst>
                </a:gridCol>
                <a:gridCol w="3562905">
                  <a:extLst>
                    <a:ext uri="{9D8B030D-6E8A-4147-A177-3AD203B41FA5}">
                      <a16:colId xmlns:a16="http://schemas.microsoft.com/office/drawing/2014/main" val="2229508255"/>
                    </a:ext>
                  </a:extLst>
                </a:gridCol>
                <a:gridCol w="3562905">
                  <a:extLst>
                    <a:ext uri="{9D8B030D-6E8A-4147-A177-3AD203B41FA5}">
                      <a16:colId xmlns:a16="http://schemas.microsoft.com/office/drawing/2014/main" val="634688793"/>
                    </a:ext>
                  </a:extLst>
                </a:gridCol>
              </a:tblGrid>
              <a:tr h="528055">
                <a:tc>
                  <a:txBody>
                    <a:bodyPr/>
                    <a:lstStyle/>
                    <a:p>
                      <a:r>
                        <a:rPr lang="en-IN" sz="1400"/>
                        <a:t>Component</a:t>
                      </a:r>
                    </a:p>
                  </a:txBody>
                  <a:tcPr marL="43083" marR="43083" marT="21541" marB="21541" anchor="ctr">
                    <a:lnL>
                      <a:noFill/>
                    </a:lnL>
                    <a:lnR>
                      <a:noFill/>
                    </a:lnR>
                    <a:lnT>
                      <a:noFill/>
                    </a:lnT>
                    <a:lnB>
                      <a:noFill/>
                    </a:lnB>
                  </a:tcPr>
                </a:tc>
                <a:tc>
                  <a:txBody>
                    <a:bodyPr/>
                    <a:lstStyle/>
                    <a:p>
                      <a:r>
                        <a:rPr lang="en-IN" sz="1400"/>
                        <a:t>Model Selection Type</a:t>
                      </a:r>
                    </a:p>
                  </a:txBody>
                  <a:tcPr marL="43083" marR="43083" marT="21541" marB="21541" anchor="ctr">
                    <a:lnL>
                      <a:noFill/>
                    </a:lnL>
                    <a:lnR>
                      <a:noFill/>
                    </a:lnR>
                    <a:lnT>
                      <a:noFill/>
                    </a:lnT>
                    <a:lnB>
                      <a:noFill/>
                    </a:lnB>
                  </a:tcPr>
                </a:tc>
                <a:tc>
                  <a:txBody>
                    <a:bodyPr/>
                    <a:lstStyle/>
                    <a:p>
                      <a:r>
                        <a:rPr lang="en-IN" sz="1400"/>
                        <a:t>Rationale</a:t>
                      </a:r>
                    </a:p>
                  </a:txBody>
                  <a:tcPr marL="43083" marR="43083" marT="21541" marB="21541" anchor="ctr">
                    <a:lnL>
                      <a:noFill/>
                    </a:lnL>
                    <a:lnR>
                      <a:noFill/>
                    </a:lnR>
                    <a:lnT>
                      <a:noFill/>
                    </a:lnT>
                    <a:lnB>
                      <a:noFill/>
                    </a:lnB>
                  </a:tcPr>
                </a:tc>
                <a:extLst>
                  <a:ext uri="{0D108BD9-81ED-4DB2-BD59-A6C34878D82A}">
                    <a16:rowId xmlns:a16="http://schemas.microsoft.com/office/drawing/2014/main" val="270445675"/>
                  </a:ext>
                </a:extLst>
              </a:tr>
              <a:tr h="706268">
                <a:tc>
                  <a:txBody>
                    <a:bodyPr/>
                    <a:lstStyle/>
                    <a:p>
                      <a:r>
                        <a:rPr lang="en-IN" sz="1400" b="1" dirty="0"/>
                        <a:t>Core Platform</a:t>
                      </a:r>
                      <a:endParaRPr lang="en-IN" sz="1400" dirty="0"/>
                    </a:p>
                  </a:txBody>
                  <a:tcPr marL="43083" marR="43083" marT="21541" marB="21541" anchor="ctr">
                    <a:lnL>
                      <a:noFill/>
                    </a:lnL>
                    <a:lnR>
                      <a:noFill/>
                    </a:lnR>
                    <a:lnT>
                      <a:noFill/>
                    </a:lnT>
                    <a:lnB>
                      <a:noFill/>
                    </a:lnB>
                  </a:tcPr>
                </a:tc>
                <a:tc>
                  <a:txBody>
                    <a:bodyPr/>
                    <a:lstStyle/>
                    <a:p>
                      <a:r>
                        <a:rPr lang="en-IN" sz="1400" b="1"/>
                        <a:t>Software Architecture (MVC/Microservices)</a:t>
                      </a:r>
                      <a:endParaRPr lang="en-IN" sz="1400"/>
                    </a:p>
                  </a:txBody>
                  <a:tcPr marL="43083" marR="43083" marT="21541" marB="21541" anchor="ctr">
                    <a:lnL>
                      <a:noFill/>
                    </a:lnL>
                    <a:lnR>
                      <a:noFill/>
                    </a:lnR>
                    <a:lnT>
                      <a:noFill/>
                    </a:lnT>
                    <a:lnB>
                      <a:noFill/>
                    </a:lnB>
                  </a:tcPr>
                </a:tc>
                <a:tc>
                  <a:txBody>
                    <a:bodyPr/>
                    <a:lstStyle/>
                    <a:p>
                      <a:r>
                        <a:rPr lang="en-US" sz="1400"/>
                        <a:t>Manages the dynamic interactions between Farmers (suppliers), Consumers (buyers), and the Database (product, order, and user data).</a:t>
                      </a:r>
                    </a:p>
                  </a:txBody>
                  <a:tcPr marL="43083" marR="43083" marT="21541" marB="21541" anchor="ctr">
                    <a:lnL>
                      <a:noFill/>
                    </a:lnL>
                    <a:lnR>
                      <a:noFill/>
                    </a:lnR>
                    <a:lnT>
                      <a:noFill/>
                    </a:lnT>
                    <a:lnB>
                      <a:noFill/>
                    </a:lnB>
                  </a:tcPr>
                </a:tc>
                <a:extLst>
                  <a:ext uri="{0D108BD9-81ED-4DB2-BD59-A6C34878D82A}">
                    <a16:rowId xmlns:a16="http://schemas.microsoft.com/office/drawing/2014/main" val="3893210642"/>
                  </a:ext>
                </a:extLst>
              </a:tr>
              <a:tr h="1368393">
                <a:tc>
                  <a:txBody>
                    <a:bodyPr/>
                    <a:lstStyle/>
                    <a:p>
                      <a:r>
                        <a:rPr lang="en-IN" sz="1400" b="1" dirty="0"/>
                        <a:t>Product Discovery</a:t>
                      </a:r>
                      <a:endParaRPr lang="en-IN" sz="1400" dirty="0"/>
                    </a:p>
                  </a:txBody>
                  <a:tcPr marL="43083" marR="43083" marT="21541" marB="21541" anchor="ctr">
                    <a:lnL>
                      <a:noFill/>
                    </a:lnL>
                    <a:lnR>
                      <a:noFill/>
                    </a:lnR>
                    <a:lnT>
                      <a:noFill/>
                    </a:lnT>
                    <a:lnB>
                      <a:noFill/>
                    </a:lnB>
                  </a:tcPr>
                </a:tc>
                <a:tc>
                  <a:txBody>
                    <a:bodyPr/>
                    <a:lstStyle/>
                    <a:p>
                      <a:r>
                        <a:rPr lang="en-IN" sz="1400" b="1"/>
                        <a:t>Recommendation System</a:t>
                      </a:r>
                      <a:endParaRPr lang="en-IN" sz="1400"/>
                    </a:p>
                  </a:txBody>
                  <a:tcPr marL="43083" marR="43083" marT="21541" marB="21541" anchor="ctr">
                    <a:lnL>
                      <a:noFill/>
                    </a:lnL>
                    <a:lnR>
                      <a:noFill/>
                    </a:lnR>
                    <a:lnT>
                      <a:noFill/>
                    </a:lnT>
                    <a:lnB>
                      <a:noFill/>
                    </a:lnB>
                  </a:tcPr>
                </a:tc>
                <a:tc>
                  <a:txBody>
                    <a:bodyPr/>
                    <a:lstStyle/>
                    <a:p>
                      <a:r>
                        <a:rPr lang="en-US" sz="1400" dirty="0"/>
                        <a:t>To achieve the objective of promoting local/seasonal produce and improving sales, an ML model can recommend products to consumers based on:&lt;</a:t>
                      </a:r>
                      <a:r>
                        <a:rPr lang="en-US" sz="1400" dirty="0" err="1"/>
                        <a:t>ul</a:t>
                      </a:r>
                      <a:r>
                        <a:rPr lang="en-US" sz="1400" dirty="0"/>
                        <a:t>&gt;&lt;li&gt;</a:t>
                      </a:r>
                      <a:r>
                        <a:rPr lang="en-US" sz="1400" b="1" dirty="0"/>
                        <a:t>Collaborative Filtering:</a:t>
                      </a:r>
                      <a:r>
                        <a:rPr lang="en-US" sz="1400" dirty="0"/>
                        <a:t> Based on what similar users bought.&lt;/li&gt;&lt;li&gt;</a:t>
                      </a:r>
                      <a:r>
                        <a:rPr lang="en-US" sz="1400" b="1" dirty="0"/>
                        <a:t>Content-Based Filtering:</a:t>
                      </a:r>
                      <a:r>
                        <a:rPr lang="en-US" sz="1400" dirty="0"/>
                        <a:t> Based on the features of the produce (seasonal, local, type).</a:t>
                      </a:r>
                    </a:p>
                  </a:txBody>
                  <a:tcPr marL="43083" marR="43083" marT="21541" marB="21541" anchor="ctr">
                    <a:lnL>
                      <a:noFill/>
                    </a:lnL>
                    <a:lnR>
                      <a:noFill/>
                    </a:lnR>
                    <a:lnT>
                      <a:noFill/>
                    </a:lnT>
                    <a:lnB>
                      <a:noFill/>
                    </a:lnB>
                  </a:tcPr>
                </a:tc>
                <a:extLst>
                  <a:ext uri="{0D108BD9-81ED-4DB2-BD59-A6C34878D82A}">
                    <a16:rowId xmlns:a16="http://schemas.microsoft.com/office/drawing/2014/main" val="754103482"/>
                  </a:ext>
                </a:extLst>
              </a:tr>
              <a:tr h="1235968">
                <a:tc>
                  <a:txBody>
                    <a:bodyPr/>
                    <a:lstStyle/>
                    <a:p>
                      <a:r>
                        <a:rPr lang="en-IN" sz="1400" b="1"/>
                        <a:t>Image Verification</a:t>
                      </a:r>
                      <a:endParaRPr lang="en-IN" sz="1400"/>
                    </a:p>
                  </a:txBody>
                  <a:tcPr marL="43083" marR="43083" marT="21541" marB="21541" anchor="ctr">
                    <a:lnL>
                      <a:noFill/>
                    </a:lnL>
                    <a:lnR>
                      <a:noFill/>
                    </a:lnR>
                    <a:lnT>
                      <a:noFill/>
                    </a:lnT>
                    <a:lnB>
                      <a:noFill/>
                    </a:lnB>
                  </a:tcPr>
                </a:tc>
                <a:tc>
                  <a:txBody>
                    <a:bodyPr/>
                    <a:lstStyle/>
                    <a:p>
                      <a:r>
                        <a:rPr lang="en-IN" sz="1400" b="1"/>
                        <a:t>Convolutional Neural Network (CNN)</a:t>
                      </a:r>
                      <a:endParaRPr lang="en-IN" sz="1400"/>
                    </a:p>
                  </a:txBody>
                  <a:tcPr marL="43083" marR="43083" marT="21541" marB="21541" anchor="ctr">
                    <a:lnL>
                      <a:noFill/>
                    </a:lnL>
                    <a:lnR>
                      <a:noFill/>
                    </a:lnR>
                    <a:lnT>
                      <a:noFill/>
                    </a:lnT>
                    <a:lnB>
                      <a:noFill/>
                    </a:lnB>
                  </a:tcPr>
                </a:tc>
                <a:tc>
                  <a:txBody>
                    <a:bodyPr/>
                    <a:lstStyle/>
                    <a:p>
                      <a:r>
                        <a:rPr lang="en-US" sz="1400"/>
                        <a:t>To build trust and traceability (Objective 5), a CNN model could be used for basic </a:t>
                      </a:r>
                      <a:r>
                        <a:rPr lang="en-US" sz="1400" b="1"/>
                        <a:t>Quality Check/Produce Verification</a:t>
                      </a:r>
                      <a:r>
                        <a:rPr lang="en-US" sz="1400"/>
                        <a:t> by analyzing images uploaded by farmers to ensure the listed product visually matches the description (e.g., classifying a tomato vs. a potato).</a:t>
                      </a:r>
                    </a:p>
                  </a:txBody>
                  <a:tcPr marL="43083" marR="43083" marT="21541" marB="21541" anchor="ctr">
                    <a:lnL>
                      <a:noFill/>
                    </a:lnL>
                    <a:lnR>
                      <a:noFill/>
                    </a:lnR>
                    <a:lnT>
                      <a:noFill/>
                    </a:lnT>
                    <a:lnB>
                      <a:noFill/>
                    </a:lnB>
                  </a:tcPr>
                </a:tc>
                <a:extLst>
                  <a:ext uri="{0D108BD9-81ED-4DB2-BD59-A6C34878D82A}">
                    <a16:rowId xmlns:a16="http://schemas.microsoft.com/office/drawing/2014/main" val="2170656433"/>
                  </a:ext>
                </a:extLst>
              </a:tr>
              <a:tr h="971118">
                <a:tc>
                  <a:txBody>
                    <a:bodyPr/>
                    <a:lstStyle/>
                    <a:p>
                      <a:r>
                        <a:rPr lang="en-IN" sz="1400" b="1"/>
                        <a:t>Demand Forecasting</a:t>
                      </a:r>
                      <a:endParaRPr lang="en-IN" sz="1400"/>
                    </a:p>
                  </a:txBody>
                  <a:tcPr marL="43083" marR="43083" marT="21541" marB="21541" anchor="ctr">
                    <a:lnL>
                      <a:noFill/>
                    </a:lnL>
                    <a:lnR>
                      <a:noFill/>
                    </a:lnR>
                    <a:lnT>
                      <a:noFill/>
                    </a:lnT>
                    <a:lnB>
                      <a:noFill/>
                    </a:lnB>
                  </a:tcPr>
                </a:tc>
                <a:tc>
                  <a:txBody>
                    <a:bodyPr/>
                    <a:lstStyle/>
                    <a:p>
                      <a:r>
                        <a:rPr lang="en-IN" sz="1400" b="1"/>
                        <a:t>Time Series Model (e.g., ARIMA, Prophet)</a:t>
                      </a:r>
                      <a:endParaRPr lang="en-IN" sz="1400"/>
                    </a:p>
                  </a:txBody>
                  <a:tcPr marL="43083" marR="43083" marT="21541" marB="21541" anchor="ctr">
                    <a:lnL>
                      <a:noFill/>
                    </a:lnL>
                    <a:lnR>
                      <a:noFill/>
                    </a:lnR>
                    <a:lnT>
                      <a:noFill/>
                    </a:lnT>
                    <a:lnB>
                      <a:noFill/>
                    </a:lnB>
                  </a:tcPr>
                </a:tc>
                <a:tc>
                  <a:txBody>
                    <a:bodyPr/>
                    <a:lstStyle/>
                    <a:p>
                      <a:r>
                        <a:rPr lang="en-US" sz="1400" dirty="0"/>
                        <a:t>To help farmers plan their harvest and manage inventory efficiently (addressing reduced wastage), a model can predict consumer demand for specific produce based on historical sales data, seasonality, and urban area demand.</a:t>
                      </a:r>
                    </a:p>
                  </a:txBody>
                  <a:tcPr marL="43083" marR="43083" marT="21541" marB="21541" anchor="ctr">
                    <a:lnL>
                      <a:noFill/>
                    </a:lnL>
                    <a:lnR>
                      <a:noFill/>
                    </a:lnR>
                    <a:lnT>
                      <a:noFill/>
                    </a:lnT>
                    <a:lnB>
                      <a:noFill/>
                    </a:lnB>
                  </a:tcPr>
                </a:tc>
                <a:extLst>
                  <a:ext uri="{0D108BD9-81ED-4DB2-BD59-A6C34878D82A}">
                    <a16:rowId xmlns:a16="http://schemas.microsoft.com/office/drawing/2014/main" val="516016760"/>
                  </a:ext>
                </a:extLst>
              </a:tr>
            </a:tbl>
          </a:graphicData>
        </a:graphic>
      </p:graphicFrame>
    </p:spTree>
    <p:extLst>
      <p:ext uri="{BB962C8B-B14F-4D97-AF65-F5344CB8AC3E}">
        <p14:creationId xmlns:p14="http://schemas.microsoft.com/office/powerpoint/2010/main" val="27070079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86471" y="1254606"/>
            <a:ext cx="1990225" cy="523220"/>
          </a:xfrm>
          <a:prstGeom prst="rect">
            <a:avLst/>
          </a:prstGeom>
        </p:spPr>
        <p:txBody>
          <a:bodyPr wrap="none">
            <a:spAutoFit/>
          </a:bodyPr>
          <a:lstStyle/>
          <a:p>
            <a:r>
              <a:rPr lang="en-IN" sz="2800" dirty="0"/>
              <a:t>Architecture</a:t>
            </a:r>
          </a:p>
        </p:txBody>
      </p:sp>
      <p:pic>
        <p:nvPicPr>
          <p:cNvPr id="5" name="Picture 4">
            <a:extLst>
              <a:ext uri="{FF2B5EF4-FFF2-40B4-BE49-F238E27FC236}">
                <a16:creationId xmlns:a16="http://schemas.microsoft.com/office/drawing/2014/main" id="{E177870E-CEB5-F317-29F9-E6A3BE1F931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41032" y="1777826"/>
            <a:ext cx="9286413" cy="4811697"/>
          </a:xfrm>
          <a:prstGeom prst="rect">
            <a:avLst/>
          </a:prstGeom>
        </p:spPr>
      </p:pic>
    </p:spTree>
    <p:extLst>
      <p:ext uri="{BB962C8B-B14F-4D97-AF65-F5344CB8AC3E}">
        <p14:creationId xmlns:p14="http://schemas.microsoft.com/office/powerpoint/2010/main" val="217491184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E576FBE2-D6F2-5F83-E523-AFF36D176EF2}"/>
              </a:ext>
            </a:extLst>
          </p:cNvPr>
          <p:cNvSpPr txBox="1"/>
          <p:nvPr/>
        </p:nvSpPr>
        <p:spPr>
          <a:xfrm>
            <a:off x="756821" y="1328976"/>
            <a:ext cx="6094520" cy="584775"/>
          </a:xfrm>
          <a:prstGeom prst="rect">
            <a:avLst/>
          </a:prstGeom>
          <a:noFill/>
        </p:spPr>
        <p:txBody>
          <a:bodyPr wrap="square">
            <a:spAutoFit/>
          </a:bodyPr>
          <a:lstStyle/>
          <a:p>
            <a:r>
              <a:rPr lang="en-IN" sz="3200" dirty="0"/>
              <a:t>Hardware Requirements</a:t>
            </a:r>
          </a:p>
        </p:txBody>
      </p:sp>
      <p:graphicFrame>
        <p:nvGraphicFramePr>
          <p:cNvPr id="6" name="Table 5">
            <a:extLst>
              <a:ext uri="{FF2B5EF4-FFF2-40B4-BE49-F238E27FC236}">
                <a16:creationId xmlns:a16="http://schemas.microsoft.com/office/drawing/2014/main" id="{4DB90DE4-3C78-7CCC-9869-725BD834E255}"/>
              </a:ext>
            </a:extLst>
          </p:cNvPr>
          <p:cNvGraphicFramePr>
            <a:graphicFrameLocks noGrp="1"/>
          </p:cNvGraphicFramePr>
          <p:nvPr>
            <p:extLst>
              <p:ext uri="{D42A27DB-BD31-4B8C-83A1-F6EECF244321}">
                <p14:modId xmlns:p14="http://schemas.microsoft.com/office/powerpoint/2010/main" val="1054945705"/>
              </p:ext>
            </p:extLst>
          </p:nvPr>
        </p:nvGraphicFramePr>
        <p:xfrm>
          <a:off x="756821" y="2321639"/>
          <a:ext cx="10515600" cy="2560320"/>
        </p:xfrm>
        <a:graphic>
          <a:graphicData uri="http://schemas.openxmlformats.org/drawingml/2006/table">
            <a:tbl>
              <a:tblPr/>
              <a:tblGrid>
                <a:gridCol w="5257800">
                  <a:extLst>
                    <a:ext uri="{9D8B030D-6E8A-4147-A177-3AD203B41FA5}">
                      <a16:colId xmlns:a16="http://schemas.microsoft.com/office/drawing/2014/main" val="2753552686"/>
                    </a:ext>
                  </a:extLst>
                </a:gridCol>
                <a:gridCol w="5257800">
                  <a:extLst>
                    <a:ext uri="{9D8B030D-6E8A-4147-A177-3AD203B41FA5}">
                      <a16:colId xmlns:a16="http://schemas.microsoft.com/office/drawing/2014/main" val="1543211203"/>
                    </a:ext>
                  </a:extLst>
                </a:gridCol>
              </a:tblGrid>
              <a:tr h="0">
                <a:tc>
                  <a:txBody>
                    <a:bodyPr/>
                    <a:lstStyle/>
                    <a:p>
                      <a:r>
                        <a:rPr lang="en-IN" b="1"/>
                        <a:t>Component</a:t>
                      </a:r>
                      <a:endParaRPr lang="en-IN"/>
                    </a:p>
                  </a:txBody>
                  <a:tcPr anchor="ctr">
                    <a:lnL>
                      <a:noFill/>
                    </a:lnL>
                    <a:lnR>
                      <a:noFill/>
                    </a:lnR>
                    <a:lnT>
                      <a:noFill/>
                    </a:lnT>
                    <a:lnB>
                      <a:noFill/>
                    </a:lnB>
                  </a:tcPr>
                </a:tc>
                <a:tc>
                  <a:txBody>
                    <a:bodyPr/>
                    <a:lstStyle/>
                    <a:p>
                      <a:r>
                        <a:rPr lang="en-IN" b="1"/>
                        <a:t>Specification</a:t>
                      </a:r>
                      <a:endParaRPr lang="en-IN"/>
                    </a:p>
                  </a:txBody>
                  <a:tcPr anchor="ctr">
                    <a:lnL>
                      <a:noFill/>
                    </a:lnL>
                    <a:lnR>
                      <a:noFill/>
                    </a:lnR>
                    <a:lnT>
                      <a:noFill/>
                    </a:lnT>
                    <a:lnB>
                      <a:noFill/>
                    </a:lnB>
                  </a:tcPr>
                </a:tc>
                <a:extLst>
                  <a:ext uri="{0D108BD9-81ED-4DB2-BD59-A6C34878D82A}">
                    <a16:rowId xmlns:a16="http://schemas.microsoft.com/office/drawing/2014/main" val="2438993710"/>
                  </a:ext>
                </a:extLst>
              </a:tr>
              <a:tr h="0">
                <a:tc>
                  <a:txBody>
                    <a:bodyPr/>
                    <a:lstStyle/>
                    <a:p>
                      <a:r>
                        <a:rPr lang="en-IN" b="1"/>
                        <a:t>Processor</a:t>
                      </a:r>
                      <a:endParaRPr lang="en-IN"/>
                    </a:p>
                  </a:txBody>
                  <a:tcPr anchor="ctr">
                    <a:lnL>
                      <a:noFill/>
                    </a:lnL>
                    <a:lnR>
                      <a:noFill/>
                    </a:lnR>
                    <a:lnT>
                      <a:noFill/>
                    </a:lnT>
                    <a:lnB>
                      <a:noFill/>
                    </a:lnB>
                  </a:tcPr>
                </a:tc>
                <a:tc>
                  <a:txBody>
                    <a:bodyPr/>
                    <a:lstStyle/>
                    <a:p>
                      <a:r>
                        <a:rPr lang="en-US"/>
                        <a:t>Intel Core i3 / AMD Ryzen 3 or higher</a:t>
                      </a:r>
                    </a:p>
                  </a:txBody>
                  <a:tcPr anchor="ctr">
                    <a:lnL>
                      <a:noFill/>
                    </a:lnL>
                    <a:lnR>
                      <a:noFill/>
                    </a:lnR>
                    <a:lnT>
                      <a:noFill/>
                    </a:lnT>
                    <a:lnB>
                      <a:noFill/>
                    </a:lnB>
                  </a:tcPr>
                </a:tc>
                <a:extLst>
                  <a:ext uri="{0D108BD9-81ED-4DB2-BD59-A6C34878D82A}">
                    <a16:rowId xmlns:a16="http://schemas.microsoft.com/office/drawing/2014/main" val="2784466601"/>
                  </a:ext>
                </a:extLst>
              </a:tr>
              <a:tr h="0">
                <a:tc>
                  <a:txBody>
                    <a:bodyPr/>
                    <a:lstStyle/>
                    <a:p>
                      <a:r>
                        <a:rPr lang="en-IN" b="1"/>
                        <a:t>RAM</a:t>
                      </a:r>
                      <a:endParaRPr lang="en-IN"/>
                    </a:p>
                  </a:txBody>
                  <a:tcPr anchor="ctr">
                    <a:lnL>
                      <a:noFill/>
                    </a:lnL>
                    <a:lnR>
                      <a:noFill/>
                    </a:lnR>
                    <a:lnT>
                      <a:noFill/>
                    </a:lnT>
                    <a:lnB>
                      <a:noFill/>
                    </a:lnB>
                  </a:tcPr>
                </a:tc>
                <a:tc>
                  <a:txBody>
                    <a:bodyPr/>
                    <a:lstStyle/>
                    <a:p>
                      <a:r>
                        <a:rPr lang="en-IN"/>
                        <a:t>Minimum 4 GB (8 GB recommended)</a:t>
                      </a:r>
                    </a:p>
                  </a:txBody>
                  <a:tcPr anchor="ctr">
                    <a:lnL>
                      <a:noFill/>
                    </a:lnL>
                    <a:lnR>
                      <a:noFill/>
                    </a:lnR>
                    <a:lnT>
                      <a:noFill/>
                    </a:lnT>
                    <a:lnB>
                      <a:noFill/>
                    </a:lnB>
                  </a:tcPr>
                </a:tc>
                <a:extLst>
                  <a:ext uri="{0D108BD9-81ED-4DB2-BD59-A6C34878D82A}">
                    <a16:rowId xmlns:a16="http://schemas.microsoft.com/office/drawing/2014/main" val="1811150350"/>
                  </a:ext>
                </a:extLst>
              </a:tr>
              <a:tr h="0">
                <a:tc>
                  <a:txBody>
                    <a:bodyPr/>
                    <a:lstStyle/>
                    <a:p>
                      <a:r>
                        <a:rPr lang="en-IN" b="1"/>
                        <a:t>Hard Disk</a:t>
                      </a:r>
                      <a:endParaRPr lang="en-IN"/>
                    </a:p>
                  </a:txBody>
                  <a:tcPr anchor="ctr">
                    <a:lnL>
                      <a:noFill/>
                    </a:lnL>
                    <a:lnR>
                      <a:noFill/>
                    </a:lnR>
                    <a:lnT>
                      <a:noFill/>
                    </a:lnT>
                    <a:lnB>
                      <a:noFill/>
                    </a:lnB>
                  </a:tcPr>
                </a:tc>
                <a:tc>
                  <a:txBody>
                    <a:bodyPr/>
                    <a:lstStyle/>
                    <a:p>
                      <a:r>
                        <a:rPr lang="en-US"/>
                        <a:t>At least 100 GB free space</a:t>
                      </a:r>
                    </a:p>
                  </a:txBody>
                  <a:tcPr anchor="ctr">
                    <a:lnL>
                      <a:noFill/>
                    </a:lnL>
                    <a:lnR>
                      <a:noFill/>
                    </a:lnR>
                    <a:lnT>
                      <a:noFill/>
                    </a:lnT>
                    <a:lnB>
                      <a:noFill/>
                    </a:lnB>
                  </a:tcPr>
                </a:tc>
                <a:extLst>
                  <a:ext uri="{0D108BD9-81ED-4DB2-BD59-A6C34878D82A}">
                    <a16:rowId xmlns:a16="http://schemas.microsoft.com/office/drawing/2014/main" val="3974816366"/>
                  </a:ext>
                </a:extLst>
              </a:tr>
              <a:tr h="0">
                <a:tc>
                  <a:txBody>
                    <a:bodyPr/>
                    <a:lstStyle/>
                    <a:p>
                      <a:r>
                        <a:rPr lang="en-IN" b="1"/>
                        <a:t>Display</a:t>
                      </a:r>
                      <a:endParaRPr lang="en-IN"/>
                    </a:p>
                  </a:txBody>
                  <a:tcPr anchor="ctr">
                    <a:lnL>
                      <a:noFill/>
                    </a:lnL>
                    <a:lnR>
                      <a:noFill/>
                    </a:lnR>
                    <a:lnT>
                      <a:noFill/>
                    </a:lnT>
                    <a:lnB>
                      <a:noFill/>
                    </a:lnB>
                  </a:tcPr>
                </a:tc>
                <a:tc>
                  <a:txBody>
                    <a:bodyPr/>
                    <a:lstStyle/>
                    <a:p>
                      <a:r>
                        <a:rPr lang="en-US"/>
                        <a:t>1024 × 768 resolution or higher</a:t>
                      </a:r>
                    </a:p>
                  </a:txBody>
                  <a:tcPr anchor="ctr">
                    <a:lnL>
                      <a:noFill/>
                    </a:lnL>
                    <a:lnR>
                      <a:noFill/>
                    </a:lnR>
                    <a:lnT>
                      <a:noFill/>
                    </a:lnT>
                    <a:lnB>
                      <a:noFill/>
                    </a:lnB>
                  </a:tcPr>
                </a:tc>
                <a:extLst>
                  <a:ext uri="{0D108BD9-81ED-4DB2-BD59-A6C34878D82A}">
                    <a16:rowId xmlns:a16="http://schemas.microsoft.com/office/drawing/2014/main" val="2493038"/>
                  </a:ext>
                </a:extLst>
              </a:tr>
              <a:tr h="0">
                <a:tc>
                  <a:txBody>
                    <a:bodyPr/>
                    <a:lstStyle/>
                    <a:p>
                      <a:r>
                        <a:rPr lang="en-IN" b="1"/>
                        <a:t>Network</a:t>
                      </a:r>
                      <a:endParaRPr lang="en-IN"/>
                    </a:p>
                  </a:txBody>
                  <a:tcPr anchor="ctr">
                    <a:lnL>
                      <a:noFill/>
                    </a:lnL>
                    <a:lnR>
                      <a:noFill/>
                    </a:lnR>
                    <a:lnT>
                      <a:noFill/>
                    </a:lnT>
                    <a:lnB>
                      <a:noFill/>
                    </a:lnB>
                  </a:tcPr>
                </a:tc>
                <a:tc>
                  <a:txBody>
                    <a:bodyPr/>
                    <a:lstStyle/>
                    <a:p>
                      <a:r>
                        <a:rPr lang="en-IN"/>
                        <a:t>Stable internet connection for cloud access</a:t>
                      </a:r>
                    </a:p>
                  </a:txBody>
                  <a:tcPr anchor="ctr">
                    <a:lnL>
                      <a:noFill/>
                    </a:lnL>
                    <a:lnR>
                      <a:noFill/>
                    </a:lnR>
                    <a:lnT>
                      <a:noFill/>
                    </a:lnT>
                    <a:lnB>
                      <a:noFill/>
                    </a:lnB>
                  </a:tcPr>
                </a:tc>
                <a:extLst>
                  <a:ext uri="{0D108BD9-81ED-4DB2-BD59-A6C34878D82A}">
                    <a16:rowId xmlns:a16="http://schemas.microsoft.com/office/drawing/2014/main" val="1482190734"/>
                  </a:ext>
                </a:extLst>
              </a:tr>
              <a:tr h="0">
                <a:tc>
                  <a:txBody>
                    <a:bodyPr/>
                    <a:lstStyle/>
                    <a:p>
                      <a:r>
                        <a:rPr lang="en-IN" b="1"/>
                        <a:t>Other Peripherals</a:t>
                      </a:r>
                      <a:endParaRPr lang="en-IN"/>
                    </a:p>
                  </a:txBody>
                  <a:tcPr anchor="ctr">
                    <a:lnL>
                      <a:noFill/>
                    </a:lnL>
                    <a:lnR>
                      <a:noFill/>
                    </a:lnR>
                    <a:lnT>
                      <a:noFill/>
                    </a:lnT>
                    <a:lnB>
                      <a:noFill/>
                    </a:lnB>
                  </a:tcPr>
                </a:tc>
                <a:tc>
                  <a:txBody>
                    <a:bodyPr/>
                    <a:lstStyle/>
                    <a:p>
                      <a:r>
                        <a:rPr lang="en-US" dirty="0"/>
                        <a:t>Keyboard, Mouse, Smartphone (for mobile user</a:t>
                      </a:r>
                    </a:p>
                  </a:txBody>
                  <a:tcPr anchor="ctr">
                    <a:lnL>
                      <a:noFill/>
                    </a:lnL>
                    <a:lnR>
                      <a:noFill/>
                    </a:lnR>
                    <a:lnT>
                      <a:noFill/>
                    </a:lnT>
                    <a:lnB>
                      <a:noFill/>
                    </a:lnB>
                  </a:tcPr>
                </a:tc>
                <a:extLst>
                  <a:ext uri="{0D108BD9-81ED-4DB2-BD59-A6C34878D82A}">
                    <a16:rowId xmlns:a16="http://schemas.microsoft.com/office/drawing/2014/main" val="1342684798"/>
                  </a:ext>
                </a:extLst>
              </a:tr>
            </a:tbl>
          </a:graphicData>
        </a:graphic>
      </p:graphicFrame>
    </p:spTree>
    <p:extLst>
      <p:ext uri="{BB962C8B-B14F-4D97-AF65-F5344CB8AC3E}">
        <p14:creationId xmlns:p14="http://schemas.microsoft.com/office/powerpoint/2010/main" val="170448193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E8B7EC5-C449-C453-CD6E-FC798B5D0997}"/>
              </a:ext>
            </a:extLst>
          </p:cNvPr>
          <p:cNvSpPr txBox="1"/>
          <p:nvPr/>
        </p:nvSpPr>
        <p:spPr>
          <a:xfrm>
            <a:off x="810087" y="1542040"/>
            <a:ext cx="6094520" cy="523220"/>
          </a:xfrm>
          <a:prstGeom prst="rect">
            <a:avLst/>
          </a:prstGeom>
          <a:noFill/>
        </p:spPr>
        <p:txBody>
          <a:bodyPr wrap="square">
            <a:spAutoFit/>
          </a:bodyPr>
          <a:lstStyle/>
          <a:p>
            <a:r>
              <a:rPr lang="en-IN" sz="2800" dirty="0"/>
              <a:t>Software Requirements</a:t>
            </a:r>
          </a:p>
        </p:txBody>
      </p:sp>
      <p:graphicFrame>
        <p:nvGraphicFramePr>
          <p:cNvPr id="4" name="Table 3">
            <a:extLst>
              <a:ext uri="{FF2B5EF4-FFF2-40B4-BE49-F238E27FC236}">
                <a16:creationId xmlns:a16="http://schemas.microsoft.com/office/drawing/2014/main" id="{CF0DF861-4921-E714-D3C9-BEB93A0D5D2D}"/>
              </a:ext>
            </a:extLst>
          </p:cNvPr>
          <p:cNvGraphicFramePr>
            <a:graphicFrameLocks noGrp="1"/>
          </p:cNvGraphicFramePr>
          <p:nvPr>
            <p:extLst>
              <p:ext uri="{D42A27DB-BD31-4B8C-83A1-F6EECF244321}">
                <p14:modId xmlns:p14="http://schemas.microsoft.com/office/powerpoint/2010/main" val="1851444673"/>
              </p:ext>
            </p:extLst>
          </p:nvPr>
        </p:nvGraphicFramePr>
        <p:xfrm>
          <a:off x="810087" y="2079778"/>
          <a:ext cx="10515600" cy="3931920"/>
        </p:xfrm>
        <a:graphic>
          <a:graphicData uri="http://schemas.openxmlformats.org/drawingml/2006/table">
            <a:tbl>
              <a:tblPr/>
              <a:tblGrid>
                <a:gridCol w="5257800">
                  <a:extLst>
                    <a:ext uri="{9D8B030D-6E8A-4147-A177-3AD203B41FA5}">
                      <a16:colId xmlns:a16="http://schemas.microsoft.com/office/drawing/2014/main" val="3380304247"/>
                    </a:ext>
                  </a:extLst>
                </a:gridCol>
                <a:gridCol w="5257800">
                  <a:extLst>
                    <a:ext uri="{9D8B030D-6E8A-4147-A177-3AD203B41FA5}">
                      <a16:colId xmlns:a16="http://schemas.microsoft.com/office/drawing/2014/main" val="2722995063"/>
                    </a:ext>
                  </a:extLst>
                </a:gridCol>
              </a:tblGrid>
              <a:tr h="0">
                <a:tc>
                  <a:txBody>
                    <a:bodyPr/>
                    <a:lstStyle/>
                    <a:p>
                      <a:r>
                        <a:rPr lang="en-IN" b="1"/>
                        <a:t>Category</a:t>
                      </a:r>
                      <a:endParaRPr lang="en-IN"/>
                    </a:p>
                  </a:txBody>
                  <a:tcPr anchor="ctr">
                    <a:lnL>
                      <a:noFill/>
                    </a:lnL>
                    <a:lnR>
                      <a:noFill/>
                    </a:lnR>
                    <a:lnT>
                      <a:noFill/>
                    </a:lnT>
                    <a:lnB>
                      <a:noFill/>
                    </a:lnB>
                  </a:tcPr>
                </a:tc>
                <a:tc>
                  <a:txBody>
                    <a:bodyPr/>
                    <a:lstStyle/>
                    <a:p>
                      <a:r>
                        <a:rPr lang="en-IN" b="1"/>
                        <a:t>Specification</a:t>
                      </a:r>
                      <a:endParaRPr lang="en-IN"/>
                    </a:p>
                  </a:txBody>
                  <a:tcPr anchor="ctr">
                    <a:lnL>
                      <a:noFill/>
                    </a:lnL>
                    <a:lnR>
                      <a:noFill/>
                    </a:lnR>
                    <a:lnT>
                      <a:noFill/>
                    </a:lnT>
                    <a:lnB>
                      <a:noFill/>
                    </a:lnB>
                  </a:tcPr>
                </a:tc>
                <a:extLst>
                  <a:ext uri="{0D108BD9-81ED-4DB2-BD59-A6C34878D82A}">
                    <a16:rowId xmlns:a16="http://schemas.microsoft.com/office/drawing/2014/main" val="4271560162"/>
                  </a:ext>
                </a:extLst>
              </a:tr>
              <a:tr h="0">
                <a:tc>
                  <a:txBody>
                    <a:bodyPr/>
                    <a:lstStyle/>
                    <a:p>
                      <a:r>
                        <a:rPr lang="en-IN" b="1"/>
                        <a:t>Operating System</a:t>
                      </a:r>
                      <a:endParaRPr lang="en-IN"/>
                    </a:p>
                  </a:txBody>
                  <a:tcPr anchor="ctr">
                    <a:lnL>
                      <a:noFill/>
                    </a:lnL>
                    <a:lnR>
                      <a:noFill/>
                    </a:lnR>
                    <a:lnT>
                      <a:noFill/>
                    </a:lnT>
                    <a:lnB>
                      <a:noFill/>
                    </a:lnB>
                  </a:tcPr>
                </a:tc>
                <a:tc>
                  <a:txBody>
                    <a:bodyPr/>
                    <a:lstStyle/>
                    <a:p>
                      <a:r>
                        <a:rPr lang="en-US"/>
                        <a:t>Windows 10 / 11, Linux, or macOS</a:t>
                      </a:r>
                    </a:p>
                  </a:txBody>
                  <a:tcPr anchor="ctr">
                    <a:lnL>
                      <a:noFill/>
                    </a:lnL>
                    <a:lnR>
                      <a:noFill/>
                    </a:lnR>
                    <a:lnT>
                      <a:noFill/>
                    </a:lnT>
                    <a:lnB>
                      <a:noFill/>
                    </a:lnB>
                  </a:tcPr>
                </a:tc>
                <a:extLst>
                  <a:ext uri="{0D108BD9-81ED-4DB2-BD59-A6C34878D82A}">
                    <a16:rowId xmlns:a16="http://schemas.microsoft.com/office/drawing/2014/main" val="2329450473"/>
                  </a:ext>
                </a:extLst>
              </a:tr>
              <a:tr h="0">
                <a:tc>
                  <a:txBody>
                    <a:bodyPr/>
                    <a:lstStyle/>
                    <a:p>
                      <a:r>
                        <a:rPr lang="en-IN" b="1"/>
                        <a:t>Programming Languages</a:t>
                      </a:r>
                      <a:endParaRPr lang="en-IN"/>
                    </a:p>
                  </a:txBody>
                  <a:tcPr anchor="ctr">
                    <a:lnL>
                      <a:noFill/>
                    </a:lnL>
                    <a:lnR>
                      <a:noFill/>
                    </a:lnR>
                    <a:lnT>
                      <a:noFill/>
                    </a:lnT>
                    <a:lnB>
                      <a:noFill/>
                    </a:lnB>
                  </a:tcPr>
                </a:tc>
                <a:tc>
                  <a:txBody>
                    <a:bodyPr/>
                    <a:lstStyle/>
                    <a:p>
                      <a:r>
                        <a:rPr lang="en-IN"/>
                        <a:t>JavaScript, HTML, CSS</a:t>
                      </a:r>
                    </a:p>
                  </a:txBody>
                  <a:tcPr anchor="ctr">
                    <a:lnL>
                      <a:noFill/>
                    </a:lnL>
                    <a:lnR>
                      <a:noFill/>
                    </a:lnR>
                    <a:lnT>
                      <a:noFill/>
                    </a:lnT>
                    <a:lnB>
                      <a:noFill/>
                    </a:lnB>
                  </a:tcPr>
                </a:tc>
                <a:extLst>
                  <a:ext uri="{0D108BD9-81ED-4DB2-BD59-A6C34878D82A}">
                    <a16:rowId xmlns:a16="http://schemas.microsoft.com/office/drawing/2014/main" val="73190753"/>
                  </a:ext>
                </a:extLst>
              </a:tr>
              <a:tr h="0">
                <a:tc>
                  <a:txBody>
                    <a:bodyPr/>
                    <a:lstStyle/>
                    <a:p>
                      <a:r>
                        <a:rPr lang="en-IN" b="1"/>
                        <a:t>Frameworks</a:t>
                      </a:r>
                      <a:endParaRPr lang="en-IN"/>
                    </a:p>
                  </a:txBody>
                  <a:tcPr anchor="ctr">
                    <a:lnL>
                      <a:noFill/>
                    </a:lnL>
                    <a:lnR>
                      <a:noFill/>
                    </a:lnR>
                    <a:lnT>
                      <a:noFill/>
                    </a:lnT>
                    <a:lnB>
                      <a:noFill/>
                    </a:lnB>
                  </a:tcPr>
                </a:tc>
                <a:tc>
                  <a:txBody>
                    <a:bodyPr/>
                    <a:lstStyle/>
                    <a:p>
                      <a:r>
                        <a:rPr lang="en-US"/>
                        <a:t>Node.js with Express.js (Backend), React.js (Frontend – optional)</a:t>
                      </a:r>
                    </a:p>
                  </a:txBody>
                  <a:tcPr anchor="ctr">
                    <a:lnL>
                      <a:noFill/>
                    </a:lnL>
                    <a:lnR>
                      <a:noFill/>
                    </a:lnR>
                    <a:lnT>
                      <a:noFill/>
                    </a:lnT>
                    <a:lnB>
                      <a:noFill/>
                    </a:lnB>
                  </a:tcPr>
                </a:tc>
                <a:extLst>
                  <a:ext uri="{0D108BD9-81ED-4DB2-BD59-A6C34878D82A}">
                    <a16:rowId xmlns:a16="http://schemas.microsoft.com/office/drawing/2014/main" val="1260317886"/>
                  </a:ext>
                </a:extLst>
              </a:tr>
              <a:tr h="0">
                <a:tc>
                  <a:txBody>
                    <a:bodyPr/>
                    <a:lstStyle/>
                    <a:p>
                      <a:r>
                        <a:rPr lang="en-IN" b="1"/>
                        <a:t>Database</a:t>
                      </a:r>
                      <a:endParaRPr lang="en-IN"/>
                    </a:p>
                  </a:txBody>
                  <a:tcPr anchor="ctr">
                    <a:lnL>
                      <a:noFill/>
                    </a:lnL>
                    <a:lnR>
                      <a:noFill/>
                    </a:lnR>
                    <a:lnT>
                      <a:noFill/>
                    </a:lnT>
                    <a:lnB>
                      <a:noFill/>
                    </a:lnB>
                  </a:tcPr>
                </a:tc>
                <a:tc>
                  <a:txBody>
                    <a:bodyPr/>
                    <a:lstStyle/>
                    <a:p>
                      <a:r>
                        <a:rPr lang="en-IN"/>
                        <a:t>MongoDB Atlas (Cloud Database)</a:t>
                      </a:r>
                    </a:p>
                  </a:txBody>
                  <a:tcPr anchor="ctr">
                    <a:lnL>
                      <a:noFill/>
                    </a:lnL>
                    <a:lnR>
                      <a:noFill/>
                    </a:lnR>
                    <a:lnT>
                      <a:noFill/>
                    </a:lnT>
                    <a:lnB>
                      <a:noFill/>
                    </a:lnB>
                  </a:tcPr>
                </a:tc>
                <a:extLst>
                  <a:ext uri="{0D108BD9-81ED-4DB2-BD59-A6C34878D82A}">
                    <a16:rowId xmlns:a16="http://schemas.microsoft.com/office/drawing/2014/main" val="241462999"/>
                  </a:ext>
                </a:extLst>
              </a:tr>
              <a:tr h="0">
                <a:tc>
                  <a:txBody>
                    <a:bodyPr/>
                    <a:lstStyle/>
                    <a:p>
                      <a:r>
                        <a:rPr lang="en-IN" b="1"/>
                        <a:t>Server Environment</a:t>
                      </a:r>
                      <a:endParaRPr lang="en-IN"/>
                    </a:p>
                  </a:txBody>
                  <a:tcPr anchor="ctr">
                    <a:lnL>
                      <a:noFill/>
                    </a:lnL>
                    <a:lnR>
                      <a:noFill/>
                    </a:lnR>
                    <a:lnT>
                      <a:noFill/>
                    </a:lnT>
                    <a:lnB>
                      <a:noFill/>
                    </a:lnB>
                  </a:tcPr>
                </a:tc>
                <a:tc>
                  <a:txBody>
                    <a:bodyPr/>
                    <a:lstStyle/>
                    <a:p>
                      <a:r>
                        <a:rPr lang="en-IN"/>
                        <a:t>Node.js Runtime Environment</a:t>
                      </a:r>
                    </a:p>
                  </a:txBody>
                  <a:tcPr anchor="ctr">
                    <a:lnL>
                      <a:noFill/>
                    </a:lnL>
                    <a:lnR>
                      <a:noFill/>
                    </a:lnR>
                    <a:lnT>
                      <a:noFill/>
                    </a:lnT>
                    <a:lnB>
                      <a:noFill/>
                    </a:lnB>
                  </a:tcPr>
                </a:tc>
                <a:extLst>
                  <a:ext uri="{0D108BD9-81ED-4DB2-BD59-A6C34878D82A}">
                    <a16:rowId xmlns:a16="http://schemas.microsoft.com/office/drawing/2014/main" val="3135823726"/>
                  </a:ext>
                </a:extLst>
              </a:tr>
              <a:tr h="0">
                <a:tc>
                  <a:txBody>
                    <a:bodyPr/>
                    <a:lstStyle/>
                    <a:p>
                      <a:r>
                        <a:rPr lang="en-IN" b="1"/>
                        <a:t>Web Browser</a:t>
                      </a:r>
                      <a:endParaRPr lang="en-IN"/>
                    </a:p>
                  </a:txBody>
                  <a:tcPr anchor="ctr">
                    <a:lnL>
                      <a:noFill/>
                    </a:lnL>
                    <a:lnR>
                      <a:noFill/>
                    </a:lnR>
                    <a:lnT>
                      <a:noFill/>
                    </a:lnT>
                    <a:lnB>
                      <a:noFill/>
                    </a:lnB>
                  </a:tcPr>
                </a:tc>
                <a:tc>
                  <a:txBody>
                    <a:bodyPr/>
                    <a:lstStyle/>
                    <a:p>
                      <a:r>
                        <a:rPr lang="en-IN"/>
                        <a:t>Google Chrome / Microsoft Edge / Firefox</a:t>
                      </a:r>
                    </a:p>
                  </a:txBody>
                  <a:tcPr anchor="ctr">
                    <a:lnL>
                      <a:noFill/>
                    </a:lnL>
                    <a:lnR>
                      <a:noFill/>
                    </a:lnR>
                    <a:lnT>
                      <a:noFill/>
                    </a:lnT>
                    <a:lnB>
                      <a:noFill/>
                    </a:lnB>
                  </a:tcPr>
                </a:tc>
                <a:extLst>
                  <a:ext uri="{0D108BD9-81ED-4DB2-BD59-A6C34878D82A}">
                    <a16:rowId xmlns:a16="http://schemas.microsoft.com/office/drawing/2014/main" val="732980876"/>
                  </a:ext>
                </a:extLst>
              </a:tr>
              <a:tr h="0">
                <a:tc>
                  <a:txBody>
                    <a:bodyPr/>
                    <a:lstStyle/>
                    <a:p>
                      <a:r>
                        <a:rPr lang="en-IN" b="1"/>
                        <a:t>Code Editor</a:t>
                      </a:r>
                      <a:endParaRPr lang="en-IN"/>
                    </a:p>
                  </a:txBody>
                  <a:tcPr anchor="ctr">
                    <a:lnL>
                      <a:noFill/>
                    </a:lnL>
                    <a:lnR>
                      <a:noFill/>
                    </a:lnR>
                    <a:lnT>
                      <a:noFill/>
                    </a:lnT>
                    <a:lnB>
                      <a:noFill/>
                    </a:lnB>
                  </a:tcPr>
                </a:tc>
                <a:tc>
                  <a:txBody>
                    <a:bodyPr/>
                    <a:lstStyle/>
                    <a:p>
                      <a:r>
                        <a:rPr lang="en-IN"/>
                        <a:t>Visual Studio Code</a:t>
                      </a:r>
                    </a:p>
                  </a:txBody>
                  <a:tcPr anchor="ctr">
                    <a:lnL>
                      <a:noFill/>
                    </a:lnL>
                    <a:lnR>
                      <a:noFill/>
                    </a:lnR>
                    <a:lnT>
                      <a:noFill/>
                    </a:lnT>
                    <a:lnB>
                      <a:noFill/>
                    </a:lnB>
                  </a:tcPr>
                </a:tc>
                <a:extLst>
                  <a:ext uri="{0D108BD9-81ED-4DB2-BD59-A6C34878D82A}">
                    <a16:rowId xmlns:a16="http://schemas.microsoft.com/office/drawing/2014/main" val="3147587142"/>
                  </a:ext>
                </a:extLst>
              </a:tr>
              <a:tr h="0">
                <a:tc>
                  <a:txBody>
                    <a:bodyPr/>
                    <a:lstStyle/>
                    <a:p>
                      <a:r>
                        <a:rPr lang="en-IN" b="1"/>
                        <a:t>APIs / Tools</a:t>
                      </a:r>
                      <a:endParaRPr lang="en-IN"/>
                    </a:p>
                  </a:txBody>
                  <a:tcPr anchor="ctr">
                    <a:lnL>
                      <a:noFill/>
                    </a:lnL>
                    <a:lnR>
                      <a:noFill/>
                    </a:lnR>
                    <a:lnT>
                      <a:noFill/>
                    </a:lnT>
                    <a:lnB>
                      <a:noFill/>
                    </a:lnB>
                  </a:tcPr>
                </a:tc>
                <a:tc>
                  <a:txBody>
                    <a:bodyPr/>
                    <a:lstStyle/>
                    <a:p>
                      <a:r>
                        <a:rPr lang="en-US"/>
                        <a:t>Weather API, GPS API, RESTful API Integration</a:t>
                      </a:r>
                    </a:p>
                  </a:txBody>
                  <a:tcPr anchor="ctr">
                    <a:lnL>
                      <a:noFill/>
                    </a:lnL>
                    <a:lnR>
                      <a:noFill/>
                    </a:lnR>
                    <a:lnT>
                      <a:noFill/>
                    </a:lnT>
                    <a:lnB>
                      <a:noFill/>
                    </a:lnB>
                  </a:tcPr>
                </a:tc>
                <a:extLst>
                  <a:ext uri="{0D108BD9-81ED-4DB2-BD59-A6C34878D82A}">
                    <a16:rowId xmlns:a16="http://schemas.microsoft.com/office/drawing/2014/main" val="2429311591"/>
                  </a:ext>
                </a:extLst>
              </a:tr>
              <a:tr h="0">
                <a:tc>
                  <a:txBody>
                    <a:bodyPr/>
                    <a:lstStyle/>
                    <a:p>
                      <a:r>
                        <a:rPr lang="en-IN" b="1"/>
                        <a:t>Hosting Platform</a:t>
                      </a:r>
                      <a:endParaRPr lang="en-IN"/>
                    </a:p>
                  </a:txBody>
                  <a:tcPr anchor="ctr">
                    <a:lnL>
                      <a:noFill/>
                    </a:lnL>
                    <a:lnR>
                      <a:noFill/>
                    </a:lnR>
                    <a:lnT>
                      <a:noFill/>
                    </a:lnT>
                    <a:lnB>
                      <a:noFill/>
                    </a:lnB>
                  </a:tcPr>
                </a:tc>
                <a:tc>
                  <a:txBody>
                    <a:bodyPr/>
                    <a:lstStyle/>
                    <a:p>
                      <a:r>
                        <a:rPr lang="en-IN" dirty="0"/>
                        <a:t>AWS / Render / </a:t>
                      </a:r>
                      <a:r>
                        <a:rPr lang="en-IN" dirty="0" err="1"/>
                        <a:t>Vercel</a:t>
                      </a:r>
                      <a:r>
                        <a:rPr lang="en-IN" dirty="0"/>
                        <a:t> (for deployment)</a:t>
                      </a:r>
                    </a:p>
                  </a:txBody>
                  <a:tcPr anchor="ctr">
                    <a:lnL>
                      <a:noFill/>
                    </a:lnL>
                    <a:lnR>
                      <a:noFill/>
                    </a:lnR>
                    <a:lnT>
                      <a:noFill/>
                    </a:lnT>
                    <a:lnB>
                      <a:noFill/>
                    </a:lnB>
                  </a:tcPr>
                </a:tc>
                <a:extLst>
                  <a:ext uri="{0D108BD9-81ED-4DB2-BD59-A6C34878D82A}">
                    <a16:rowId xmlns:a16="http://schemas.microsoft.com/office/drawing/2014/main" val="844621282"/>
                  </a:ext>
                </a:extLst>
              </a:tr>
            </a:tbl>
          </a:graphicData>
        </a:graphic>
      </p:graphicFrame>
    </p:spTree>
    <p:extLst>
      <p:ext uri="{BB962C8B-B14F-4D97-AF65-F5344CB8AC3E}">
        <p14:creationId xmlns:p14="http://schemas.microsoft.com/office/powerpoint/2010/main" val="142910553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4542B09-0F8B-DF16-D0D9-25CA98C5262E}"/>
              </a:ext>
            </a:extLst>
          </p:cNvPr>
          <p:cNvSpPr txBox="1"/>
          <p:nvPr/>
        </p:nvSpPr>
        <p:spPr>
          <a:xfrm>
            <a:off x="570390" y="1417597"/>
            <a:ext cx="7348492" cy="4524315"/>
          </a:xfrm>
          <a:prstGeom prst="rect">
            <a:avLst/>
          </a:prstGeom>
          <a:noFill/>
        </p:spPr>
        <p:txBody>
          <a:bodyPr wrap="square">
            <a:spAutoFit/>
          </a:bodyPr>
          <a:lstStyle/>
          <a:p>
            <a:r>
              <a:rPr lang="en-US" b="1" dirty="0"/>
              <a:t>SYSTEM MODULES </a:t>
            </a:r>
          </a:p>
          <a:p>
            <a:endParaRPr lang="en-US" b="1" dirty="0"/>
          </a:p>
          <a:p>
            <a:pPr>
              <a:buFont typeface="+mj-lt"/>
              <a:buAutoNum type="arabicPeriod"/>
            </a:pPr>
            <a:r>
              <a:rPr lang="en-US" b="1" dirty="0"/>
              <a:t>Weather &amp; Forecasting Module</a:t>
            </a:r>
            <a:br>
              <a:rPr lang="en-US" dirty="0"/>
            </a:br>
            <a:r>
              <a:rPr lang="en-US" dirty="0"/>
              <a:t>Provides real-time weather updates to assist in farming and planning.</a:t>
            </a:r>
          </a:p>
          <a:p>
            <a:pPr>
              <a:buFont typeface="+mj-lt"/>
              <a:buAutoNum type="arabicPeriod"/>
            </a:pPr>
            <a:r>
              <a:rPr lang="en-US" b="1" dirty="0"/>
              <a:t>Crop &amp; Marketplace Module</a:t>
            </a:r>
            <a:br>
              <a:rPr lang="en-US" dirty="0"/>
            </a:br>
            <a:r>
              <a:rPr lang="en-US" dirty="0"/>
              <a:t>Suggests suitable crops using AI and enables direct farmer-to-consumer sales.</a:t>
            </a:r>
          </a:p>
          <a:p>
            <a:pPr>
              <a:buFont typeface="+mj-lt"/>
              <a:buAutoNum type="arabicPeriod"/>
            </a:pPr>
            <a:r>
              <a:rPr lang="en-US" b="1" dirty="0"/>
              <a:t>Health &amp; Safety Module</a:t>
            </a:r>
            <a:br>
              <a:rPr lang="en-US" dirty="0"/>
            </a:br>
            <a:r>
              <a:rPr lang="en-US" dirty="0"/>
              <a:t>Sends health risk alerts related to weather conditions.</a:t>
            </a:r>
          </a:p>
          <a:p>
            <a:pPr>
              <a:buFont typeface="+mj-lt"/>
              <a:buAutoNum type="arabicPeriod"/>
            </a:pPr>
            <a:r>
              <a:rPr lang="en-US" b="1" dirty="0"/>
              <a:t>Order &amp; Payment Module</a:t>
            </a:r>
            <a:br>
              <a:rPr lang="en-US" dirty="0"/>
            </a:br>
            <a:r>
              <a:rPr lang="en-US" dirty="0"/>
              <a:t>Allows consumers to add products to cart, place orders, and manage transactions.</a:t>
            </a:r>
          </a:p>
          <a:p>
            <a:pPr>
              <a:buFont typeface="+mj-lt"/>
              <a:buAutoNum type="arabicPeriod"/>
            </a:pPr>
            <a:r>
              <a:rPr lang="en-US" b="1" dirty="0"/>
              <a:t>Emergency Assistance Module</a:t>
            </a:r>
            <a:br>
              <a:rPr lang="en-US" dirty="0"/>
            </a:br>
            <a:r>
              <a:rPr lang="en-US" dirty="0"/>
              <a:t>Supports offline SOS alerts via GPS and SMS for urgent situations.</a:t>
            </a:r>
          </a:p>
          <a:p>
            <a:pPr>
              <a:buFont typeface="+mj-lt"/>
              <a:buAutoNum type="arabicPeriod"/>
            </a:pPr>
            <a:r>
              <a:rPr lang="en-US" b="1" dirty="0"/>
              <a:t>Admin &amp; Analytics Module</a:t>
            </a:r>
            <a:br>
              <a:rPr lang="en-US" dirty="0"/>
            </a:br>
            <a:r>
              <a:rPr lang="en-US" dirty="0"/>
              <a:t>Monitors user activity, transactions, and generates useful data insights.</a:t>
            </a:r>
          </a:p>
        </p:txBody>
      </p:sp>
    </p:spTree>
    <p:extLst>
      <p:ext uri="{BB962C8B-B14F-4D97-AF65-F5344CB8AC3E}">
        <p14:creationId xmlns:p14="http://schemas.microsoft.com/office/powerpoint/2010/main" val="170187162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BE75308-B4CC-3BAA-8A0C-B06619CB99EE}"/>
              </a:ext>
            </a:extLst>
          </p:cNvPr>
          <p:cNvSpPr txBox="1"/>
          <p:nvPr/>
        </p:nvSpPr>
        <p:spPr>
          <a:xfrm>
            <a:off x="1145219" y="1367161"/>
            <a:ext cx="3471169" cy="584775"/>
          </a:xfrm>
          <a:prstGeom prst="rect">
            <a:avLst/>
          </a:prstGeom>
          <a:noFill/>
        </p:spPr>
        <p:txBody>
          <a:bodyPr wrap="square" rtlCol="0">
            <a:spAutoFit/>
          </a:bodyPr>
          <a:lstStyle/>
          <a:p>
            <a:r>
              <a:rPr lang="en-US" sz="3200" b="1" dirty="0"/>
              <a:t>Technologies used:</a:t>
            </a:r>
            <a:endParaRPr lang="en-IN" sz="3200" b="1" dirty="0"/>
          </a:p>
        </p:txBody>
      </p:sp>
      <p:sp>
        <p:nvSpPr>
          <p:cNvPr id="3" name="TextBox 2">
            <a:extLst>
              <a:ext uri="{FF2B5EF4-FFF2-40B4-BE49-F238E27FC236}">
                <a16:creationId xmlns:a16="http://schemas.microsoft.com/office/drawing/2014/main" id="{E391365D-4580-189A-D332-F95F9255D927}"/>
              </a:ext>
            </a:extLst>
          </p:cNvPr>
          <p:cNvSpPr txBox="1"/>
          <p:nvPr/>
        </p:nvSpPr>
        <p:spPr>
          <a:xfrm>
            <a:off x="1145219" y="2170097"/>
            <a:ext cx="7279690" cy="3970318"/>
          </a:xfrm>
          <a:prstGeom prst="rect">
            <a:avLst/>
          </a:prstGeom>
          <a:noFill/>
        </p:spPr>
        <p:txBody>
          <a:bodyPr wrap="square" rtlCol="0">
            <a:spAutoFit/>
          </a:bodyPr>
          <a:lstStyle/>
          <a:p>
            <a:r>
              <a:rPr lang="en-US" b="1" dirty="0"/>
              <a:t>1. Front-End (User Interface)</a:t>
            </a:r>
          </a:p>
          <a:p>
            <a:r>
              <a:rPr lang="en-US" dirty="0"/>
              <a:t>Used by farmers and consumers.</a:t>
            </a:r>
          </a:p>
          <a:p>
            <a:pPr>
              <a:buFont typeface="Arial" panose="020B0604020202020204" pitchFamily="34" charset="0"/>
              <a:buChar char="•"/>
            </a:pPr>
            <a:r>
              <a:rPr lang="en-US" b="1" dirty="0"/>
              <a:t>HTML</a:t>
            </a:r>
            <a:r>
              <a:rPr lang="en-US" dirty="0"/>
              <a:t> – for structure of web pages</a:t>
            </a:r>
          </a:p>
          <a:p>
            <a:pPr>
              <a:buFont typeface="Arial" panose="020B0604020202020204" pitchFamily="34" charset="0"/>
              <a:buChar char="•"/>
            </a:pPr>
            <a:r>
              <a:rPr lang="en-US" b="1" dirty="0"/>
              <a:t>CSS</a:t>
            </a:r>
            <a:r>
              <a:rPr lang="en-US" dirty="0"/>
              <a:t> – for styling (colors, layout, fonts)</a:t>
            </a:r>
          </a:p>
          <a:p>
            <a:pPr>
              <a:buFont typeface="Arial" panose="020B0604020202020204" pitchFamily="34" charset="0"/>
              <a:buChar char="•"/>
            </a:pPr>
            <a:r>
              <a:rPr lang="en-US" b="1" dirty="0"/>
              <a:t>JavaScript</a:t>
            </a:r>
            <a:r>
              <a:rPr lang="en-US" dirty="0"/>
              <a:t> – for basic interactivity (buttons, forms, etc.)</a:t>
            </a:r>
          </a:p>
          <a:p>
            <a:r>
              <a:rPr lang="en-US" b="1" dirty="0"/>
              <a:t>2. Back-End (Server Side)</a:t>
            </a:r>
          </a:p>
          <a:p>
            <a:r>
              <a:rPr lang="en-US" dirty="0"/>
              <a:t>Handles login, data storage, and communication.</a:t>
            </a:r>
          </a:p>
          <a:p>
            <a:pPr>
              <a:buFont typeface="Arial" panose="020B0604020202020204" pitchFamily="34" charset="0"/>
              <a:buChar char="•"/>
            </a:pPr>
            <a:r>
              <a:rPr lang="en-US" b="1" dirty="0"/>
              <a:t>Node.js (Express)</a:t>
            </a:r>
            <a:r>
              <a:rPr lang="en-US" dirty="0"/>
              <a:t> – simple backend frameworks to create APIs</a:t>
            </a:r>
          </a:p>
          <a:p>
            <a:r>
              <a:rPr lang="en-US" b="1" dirty="0"/>
              <a:t>3. Database</a:t>
            </a:r>
          </a:p>
          <a:p>
            <a:r>
              <a:rPr lang="en-US" dirty="0"/>
              <a:t>Stores all data — farmers, products, orders, consumers.</a:t>
            </a:r>
          </a:p>
          <a:p>
            <a:pPr>
              <a:buFont typeface="Arial" panose="020B0604020202020204" pitchFamily="34" charset="0"/>
              <a:buChar char="•"/>
            </a:pPr>
            <a:r>
              <a:rPr lang="en-US" b="1" dirty="0"/>
              <a:t>MySQL</a:t>
            </a:r>
            <a:r>
              <a:rPr lang="en-US" dirty="0"/>
              <a:t> – simple and widely used database</a:t>
            </a:r>
          </a:p>
          <a:p>
            <a:pPr>
              <a:buFont typeface="Arial" panose="020B0604020202020204" pitchFamily="34" charset="0"/>
              <a:buChar char="•"/>
            </a:pPr>
            <a:endParaRPr lang="en-US" dirty="0"/>
          </a:p>
          <a:p>
            <a:pPr>
              <a:buFont typeface="Arial" panose="020B0604020202020204" pitchFamily="34" charset="0"/>
              <a:buChar char="•"/>
            </a:pPr>
            <a:endParaRPr lang="en-US" dirty="0"/>
          </a:p>
          <a:p>
            <a:endParaRPr lang="en-IN" dirty="0"/>
          </a:p>
        </p:txBody>
      </p:sp>
    </p:spTree>
    <p:extLst>
      <p:ext uri="{BB962C8B-B14F-4D97-AF65-F5344CB8AC3E}">
        <p14:creationId xmlns:p14="http://schemas.microsoft.com/office/powerpoint/2010/main" val="214632979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0D6777B-FA45-8508-D7C6-BD35962EDD57}"/>
              </a:ext>
            </a:extLst>
          </p:cNvPr>
          <p:cNvSpPr txBox="1"/>
          <p:nvPr/>
        </p:nvSpPr>
        <p:spPr>
          <a:xfrm>
            <a:off x="816746" y="1162975"/>
            <a:ext cx="1429304" cy="646331"/>
          </a:xfrm>
          <a:prstGeom prst="rect">
            <a:avLst/>
          </a:prstGeom>
          <a:noFill/>
        </p:spPr>
        <p:txBody>
          <a:bodyPr wrap="square" rtlCol="0">
            <a:spAutoFit/>
          </a:bodyPr>
          <a:lstStyle/>
          <a:p>
            <a:r>
              <a:rPr lang="en-US" dirty="0"/>
              <a:t>Index.html</a:t>
            </a:r>
          </a:p>
          <a:p>
            <a:endParaRPr lang="en-IN" dirty="0"/>
          </a:p>
        </p:txBody>
      </p:sp>
      <p:pic>
        <p:nvPicPr>
          <p:cNvPr id="4" name="Picture 3">
            <a:extLst>
              <a:ext uri="{FF2B5EF4-FFF2-40B4-BE49-F238E27FC236}">
                <a16:creationId xmlns:a16="http://schemas.microsoft.com/office/drawing/2014/main" id="{8502131A-AA86-8FBF-43E1-E7BFF1ED71C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8776" y="1552104"/>
            <a:ext cx="5912529" cy="5061759"/>
          </a:xfrm>
          <a:prstGeom prst="rect">
            <a:avLst/>
          </a:prstGeom>
        </p:spPr>
      </p:pic>
      <p:sp>
        <p:nvSpPr>
          <p:cNvPr id="5" name="TextBox 4">
            <a:extLst>
              <a:ext uri="{FF2B5EF4-FFF2-40B4-BE49-F238E27FC236}">
                <a16:creationId xmlns:a16="http://schemas.microsoft.com/office/drawing/2014/main" id="{462C21A5-7A34-82FD-E502-0AE0BF29F4E9}"/>
              </a:ext>
            </a:extLst>
          </p:cNvPr>
          <p:cNvSpPr txBox="1"/>
          <p:nvPr/>
        </p:nvSpPr>
        <p:spPr>
          <a:xfrm>
            <a:off x="8424909" y="1083076"/>
            <a:ext cx="2006353" cy="646331"/>
          </a:xfrm>
          <a:prstGeom prst="rect">
            <a:avLst/>
          </a:prstGeom>
          <a:noFill/>
        </p:spPr>
        <p:txBody>
          <a:bodyPr wrap="square" rtlCol="0">
            <a:spAutoFit/>
          </a:bodyPr>
          <a:lstStyle/>
          <a:p>
            <a:r>
              <a:rPr lang="en-US" dirty="0"/>
              <a:t>About.html</a:t>
            </a:r>
          </a:p>
          <a:p>
            <a:endParaRPr lang="en-IN" dirty="0"/>
          </a:p>
        </p:txBody>
      </p:sp>
      <p:pic>
        <p:nvPicPr>
          <p:cNvPr id="7" name="Picture 6">
            <a:extLst>
              <a:ext uri="{FF2B5EF4-FFF2-40B4-BE49-F238E27FC236}">
                <a16:creationId xmlns:a16="http://schemas.microsoft.com/office/drawing/2014/main" id="{A1768779-32ED-13BD-291E-C74B3280409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137319" y="1486140"/>
            <a:ext cx="5965905" cy="4933432"/>
          </a:xfrm>
          <a:prstGeom prst="rect">
            <a:avLst/>
          </a:prstGeom>
        </p:spPr>
      </p:pic>
    </p:spTree>
    <p:extLst>
      <p:ext uri="{BB962C8B-B14F-4D97-AF65-F5344CB8AC3E}">
        <p14:creationId xmlns:p14="http://schemas.microsoft.com/office/powerpoint/2010/main" val="254769281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CAFC4EA-FB4C-8D3E-00EC-ADF0FCC571ED}"/>
              </a:ext>
            </a:extLst>
          </p:cNvPr>
          <p:cNvSpPr txBox="1"/>
          <p:nvPr/>
        </p:nvSpPr>
        <p:spPr>
          <a:xfrm>
            <a:off x="177553" y="1189608"/>
            <a:ext cx="2503503" cy="646331"/>
          </a:xfrm>
          <a:prstGeom prst="rect">
            <a:avLst/>
          </a:prstGeom>
          <a:noFill/>
        </p:spPr>
        <p:txBody>
          <a:bodyPr wrap="square" rtlCol="0">
            <a:spAutoFit/>
          </a:bodyPr>
          <a:lstStyle/>
          <a:p>
            <a:r>
              <a:rPr lang="en-US" dirty="0"/>
              <a:t>Orders.html</a:t>
            </a:r>
          </a:p>
          <a:p>
            <a:endParaRPr lang="en-IN" dirty="0"/>
          </a:p>
        </p:txBody>
      </p:sp>
      <p:pic>
        <p:nvPicPr>
          <p:cNvPr id="4" name="Picture 3">
            <a:extLst>
              <a:ext uri="{FF2B5EF4-FFF2-40B4-BE49-F238E27FC236}">
                <a16:creationId xmlns:a16="http://schemas.microsoft.com/office/drawing/2014/main" id="{A1F71952-B7E7-6FFC-9DF2-D8E2DC4AA0A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7553" y="1743592"/>
            <a:ext cx="5575176" cy="5349665"/>
          </a:xfrm>
          <a:prstGeom prst="rect">
            <a:avLst/>
          </a:prstGeom>
        </p:spPr>
      </p:pic>
      <p:sp>
        <p:nvSpPr>
          <p:cNvPr id="5" name="TextBox 4">
            <a:extLst>
              <a:ext uri="{FF2B5EF4-FFF2-40B4-BE49-F238E27FC236}">
                <a16:creationId xmlns:a16="http://schemas.microsoft.com/office/drawing/2014/main" id="{B8EDB72E-D21C-DA79-BF8E-1037189D9CCA}"/>
              </a:ext>
            </a:extLst>
          </p:cNvPr>
          <p:cNvSpPr txBox="1"/>
          <p:nvPr/>
        </p:nvSpPr>
        <p:spPr>
          <a:xfrm>
            <a:off x="7998781" y="1189608"/>
            <a:ext cx="2503503" cy="369332"/>
          </a:xfrm>
          <a:prstGeom prst="rect">
            <a:avLst/>
          </a:prstGeom>
          <a:noFill/>
        </p:spPr>
        <p:txBody>
          <a:bodyPr wrap="square" rtlCol="0">
            <a:spAutoFit/>
          </a:bodyPr>
          <a:lstStyle/>
          <a:p>
            <a:r>
              <a:rPr lang="en-US" dirty="0"/>
              <a:t>Contact.html</a:t>
            </a:r>
            <a:endParaRPr lang="en-IN" dirty="0"/>
          </a:p>
        </p:txBody>
      </p:sp>
      <p:pic>
        <p:nvPicPr>
          <p:cNvPr id="7" name="Picture 6">
            <a:extLst>
              <a:ext uri="{FF2B5EF4-FFF2-40B4-BE49-F238E27FC236}">
                <a16:creationId xmlns:a16="http://schemas.microsoft.com/office/drawing/2014/main" id="{B50717C7-56F9-83B5-9814-54386E64A42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01305" y="1743594"/>
            <a:ext cx="5916338" cy="4044648"/>
          </a:xfrm>
          <a:prstGeom prst="rect">
            <a:avLst/>
          </a:prstGeom>
        </p:spPr>
      </p:pic>
    </p:spTree>
    <p:extLst>
      <p:ext uri="{BB962C8B-B14F-4D97-AF65-F5344CB8AC3E}">
        <p14:creationId xmlns:p14="http://schemas.microsoft.com/office/powerpoint/2010/main" val="293609325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618675E-FCE6-9474-8604-3401AD98433D}"/>
              </a:ext>
            </a:extLst>
          </p:cNvPr>
          <p:cNvSpPr txBox="1"/>
          <p:nvPr/>
        </p:nvSpPr>
        <p:spPr>
          <a:xfrm>
            <a:off x="508245" y="1248960"/>
            <a:ext cx="8981983" cy="5324535"/>
          </a:xfrm>
          <a:prstGeom prst="rect">
            <a:avLst/>
          </a:prstGeom>
          <a:noFill/>
        </p:spPr>
        <p:txBody>
          <a:bodyPr wrap="square">
            <a:spAutoFit/>
          </a:bodyPr>
          <a:lstStyle/>
          <a:p>
            <a:r>
              <a:rPr lang="en-US" sz="2000" b="1" dirty="0"/>
              <a:t>5. FUTURE SCOPE </a:t>
            </a:r>
          </a:p>
          <a:p>
            <a:endParaRPr lang="en-US" sz="2000" b="1" dirty="0"/>
          </a:p>
          <a:p>
            <a:pPr>
              <a:buFont typeface="Arial" panose="020B0604020202020204" pitchFamily="34" charset="0"/>
              <a:buChar char="•"/>
            </a:pPr>
            <a:r>
              <a:rPr lang="en-US" sz="2000" b="1" dirty="0"/>
              <a:t>AI &amp; Automation:</a:t>
            </a:r>
            <a:br>
              <a:rPr lang="en-US" sz="2000" dirty="0"/>
            </a:br>
            <a:r>
              <a:rPr lang="en-US" sz="2000" dirty="0"/>
              <a:t>Integrate AI for crop price prediction, smart farming, and automated decision-making.</a:t>
            </a:r>
          </a:p>
          <a:p>
            <a:pPr>
              <a:buFont typeface="Arial" panose="020B0604020202020204" pitchFamily="34" charset="0"/>
              <a:buChar char="•"/>
            </a:pPr>
            <a:r>
              <a:rPr lang="en-US" sz="2000" b="1" dirty="0"/>
              <a:t>IoT &amp; Blockchain:</a:t>
            </a:r>
            <a:br>
              <a:rPr lang="en-US" sz="2000" dirty="0"/>
            </a:br>
            <a:r>
              <a:rPr lang="en-US" sz="2000" dirty="0"/>
              <a:t>Use IoT sensors for real-time soil and weather monitoring, and blockchain for transparent transactions.</a:t>
            </a:r>
          </a:p>
          <a:p>
            <a:pPr>
              <a:buFont typeface="Arial" panose="020B0604020202020204" pitchFamily="34" charset="0"/>
              <a:buChar char="•"/>
            </a:pPr>
            <a:r>
              <a:rPr lang="en-US" sz="2000" b="1" dirty="0"/>
              <a:t>User Experience:</a:t>
            </a:r>
            <a:br>
              <a:rPr lang="en-US" sz="2000" dirty="0"/>
            </a:br>
            <a:r>
              <a:rPr lang="en-US" sz="2000" dirty="0"/>
              <a:t>Add voice and regional language support, and personalized recommendations for farmers and consumers.</a:t>
            </a:r>
          </a:p>
          <a:p>
            <a:pPr>
              <a:buFont typeface="Arial" panose="020B0604020202020204" pitchFamily="34" charset="0"/>
              <a:buChar char="•"/>
            </a:pPr>
            <a:r>
              <a:rPr lang="en-US" sz="2000" b="1" dirty="0"/>
              <a:t>Collaboration &amp; Sustainability:</a:t>
            </a:r>
            <a:br>
              <a:rPr lang="en-US" sz="2000" dirty="0"/>
            </a:br>
            <a:r>
              <a:rPr lang="en-US" sz="2000" dirty="0"/>
              <a:t>Partner with logistics networks for efficient delivery and promote eco-friendly urban farming practices.</a:t>
            </a:r>
          </a:p>
          <a:p>
            <a:pPr>
              <a:buFont typeface="Arial" panose="020B0604020202020204" pitchFamily="34" charset="0"/>
              <a:buChar char="•"/>
            </a:pPr>
            <a:r>
              <a:rPr lang="en-US" sz="2000" b="1" dirty="0"/>
              <a:t>Government Integration:</a:t>
            </a:r>
            <a:br>
              <a:rPr lang="en-US" sz="2000" dirty="0"/>
            </a:br>
            <a:r>
              <a:rPr lang="en-US" sz="2000" dirty="0"/>
              <a:t>Link with agricultural departments for subsidies, crop insurance, and real-time weather alerts.</a:t>
            </a:r>
          </a:p>
        </p:txBody>
      </p:sp>
    </p:spTree>
    <p:extLst>
      <p:ext uri="{BB962C8B-B14F-4D97-AF65-F5344CB8AC3E}">
        <p14:creationId xmlns:p14="http://schemas.microsoft.com/office/powerpoint/2010/main" val="32748786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4633502-9DE0-9F53-9D12-5E642B398B1F}"/>
              </a:ext>
            </a:extLst>
          </p:cNvPr>
          <p:cNvSpPr txBox="1"/>
          <p:nvPr/>
        </p:nvSpPr>
        <p:spPr>
          <a:xfrm>
            <a:off x="461639" y="1322773"/>
            <a:ext cx="2858610" cy="646331"/>
          </a:xfrm>
          <a:prstGeom prst="rect">
            <a:avLst/>
          </a:prstGeom>
          <a:noFill/>
        </p:spPr>
        <p:txBody>
          <a:bodyPr wrap="square" rtlCol="0">
            <a:spAutoFit/>
          </a:bodyPr>
          <a:lstStyle/>
          <a:p>
            <a:r>
              <a:rPr lang="en-US" sz="3600" b="1" dirty="0"/>
              <a:t>Conclusion</a:t>
            </a:r>
            <a:endParaRPr lang="en-IN" sz="3600" b="1" dirty="0"/>
          </a:p>
        </p:txBody>
      </p:sp>
      <p:sp>
        <p:nvSpPr>
          <p:cNvPr id="3" name="TextBox 2">
            <a:extLst>
              <a:ext uri="{FF2B5EF4-FFF2-40B4-BE49-F238E27FC236}">
                <a16:creationId xmlns:a16="http://schemas.microsoft.com/office/drawing/2014/main" id="{280848C6-3B8A-DAD6-F7EC-B1E78665E72B}"/>
              </a:ext>
            </a:extLst>
          </p:cNvPr>
          <p:cNvSpPr txBox="1"/>
          <p:nvPr/>
        </p:nvSpPr>
        <p:spPr>
          <a:xfrm>
            <a:off x="763479" y="2263806"/>
            <a:ext cx="8993080" cy="4062651"/>
          </a:xfrm>
          <a:prstGeom prst="rect">
            <a:avLst/>
          </a:prstGeom>
          <a:noFill/>
        </p:spPr>
        <p:txBody>
          <a:bodyPr wrap="square" rtlCol="0">
            <a:spAutoFit/>
          </a:bodyPr>
          <a:lstStyle/>
          <a:p>
            <a:r>
              <a:rPr lang="en-US" sz="2000" dirty="0"/>
              <a:t>Our app is designed to directly address the drawbacks of existing platforms. By removing middlemen and keeping commissions low, farmers receive a fair share of profit while consumers get affordable prices. The app supports better logistics through local delivery partners and collection points to maintain freshness and reduce waste. Unlike other platforms, it gives equal visibility to small farmers, ensuring they are not overshadowed by larger suppliers.</a:t>
            </a:r>
          </a:p>
          <a:p>
            <a:r>
              <a:rPr lang="en-US" sz="2000" dirty="0"/>
              <a:t>It also focuses on trust and transparency by offering instant payments to farmers and verified product details for consumers. With a simple interface, local language support, and even voice features, the app becomes truly farmer-friendly. Farmers can also see consumer prices, ensuring fairness in trade. In this way, our app becomes more than a marketplace—it becomes a transparent and supportive bridge between farmers and consumers.</a:t>
            </a:r>
          </a:p>
          <a:p>
            <a:endParaRPr lang="en-IN" dirty="0"/>
          </a:p>
        </p:txBody>
      </p:sp>
    </p:spTree>
    <p:extLst>
      <p:ext uri="{BB962C8B-B14F-4D97-AF65-F5344CB8AC3E}">
        <p14:creationId xmlns:p14="http://schemas.microsoft.com/office/powerpoint/2010/main" val="228898449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01C5A7C-D7D2-29D5-1009-1AB396C068D7}"/>
              </a:ext>
            </a:extLst>
          </p:cNvPr>
          <p:cNvSpPr txBox="1"/>
          <p:nvPr/>
        </p:nvSpPr>
        <p:spPr>
          <a:xfrm>
            <a:off x="2823100" y="2705725"/>
            <a:ext cx="5974672" cy="1446550"/>
          </a:xfrm>
          <a:prstGeom prst="rect">
            <a:avLst/>
          </a:prstGeom>
          <a:noFill/>
        </p:spPr>
        <p:txBody>
          <a:bodyPr wrap="square" rtlCol="0">
            <a:spAutoFit/>
          </a:bodyPr>
          <a:lstStyle/>
          <a:p>
            <a:r>
              <a:rPr lang="en-US" sz="8800" b="1" dirty="0"/>
              <a:t>THANK YOU</a:t>
            </a:r>
            <a:endParaRPr lang="en-IN" sz="8800" b="1" dirty="0"/>
          </a:p>
        </p:txBody>
      </p:sp>
    </p:spTree>
    <p:extLst>
      <p:ext uri="{BB962C8B-B14F-4D97-AF65-F5344CB8AC3E}">
        <p14:creationId xmlns:p14="http://schemas.microsoft.com/office/powerpoint/2010/main" val="46507331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2725</TotalTime>
  <Words>1905</Words>
  <Application>Microsoft Office PowerPoint</Application>
  <PresentationFormat>Widescreen</PresentationFormat>
  <Paragraphs>163</Paragraphs>
  <Slides>22</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22</vt:i4>
      </vt:variant>
    </vt:vector>
  </HeadingPairs>
  <TitlesOfParts>
    <vt:vector size="28" baseType="lpstr">
      <vt:lpstr>Arial</vt:lpstr>
      <vt:lpstr>Bookman Old Style</vt:lpstr>
      <vt:lpstr>Calibri</vt:lpstr>
      <vt:lpstr>Calibri Light</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Omkar Jagan</dc:creator>
  <cp:lastModifiedBy>sravaniduvvuri2006@gmail.com</cp:lastModifiedBy>
  <cp:revision>48</cp:revision>
  <dcterms:created xsi:type="dcterms:W3CDTF">2023-03-16T15:58:00Z</dcterms:created>
  <dcterms:modified xsi:type="dcterms:W3CDTF">2025-11-12T20:37:54Z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9943EE0BB0574A3CB446BCEBADAA39C7_13</vt:lpwstr>
  </property>
  <property fmtid="{D5CDD505-2E9C-101B-9397-08002B2CF9AE}" pid="3" name="KSOProductBuildVer">
    <vt:lpwstr>1033-12.2.0.16909</vt:lpwstr>
  </property>
</Properties>
</file>